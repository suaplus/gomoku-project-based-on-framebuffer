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0"/>
  </p:notesMasterIdLst>
  <p:sldIdLst>
    <p:sldId id="419" r:id="rId3"/>
    <p:sldId id="429" r:id="rId4"/>
    <p:sldId id="422" r:id="rId5"/>
    <p:sldId id="294" r:id="rId6"/>
    <p:sldId id="423" r:id="rId7"/>
    <p:sldId id="327" r:id="rId8"/>
    <p:sldId id="430" r:id="rId9"/>
    <p:sldId id="424" r:id="rId10"/>
    <p:sldId id="329" r:id="rId11"/>
    <p:sldId id="432" r:id="rId12"/>
    <p:sldId id="433" r:id="rId13"/>
    <p:sldId id="434" r:id="rId14"/>
    <p:sldId id="425" r:id="rId15"/>
    <p:sldId id="331" r:id="rId16"/>
    <p:sldId id="339" r:id="rId17"/>
    <p:sldId id="335" r:id="rId18"/>
    <p:sldId id="428" r:id="rId19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7A68"/>
    <a:srgbClr val="0E6254"/>
    <a:srgbClr val="5AC8AD"/>
    <a:srgbClr val="28967B"/>
    <a:srgbClr val="409486"/>
    <a:srgbClr val="32BB99"/>
    <a:srgbClr val="189E79"/>
    <a:srgbClr val="63CF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74" autoAdjust="0"/>
    <p:restoredTop sz="96233" autoAdjust="0"/>
  </p:normalViewPr>
  <p:slideViewPr>
    <p:cSldViewPr snapToGrid="0" showGuides="1">
      <p:cViewPr varScale="1">
        <p:scale>
          <a:sx n="84" d="100"/>
          <a:sy n="84" d="100"/>
        </p:scale>
        <p:origin x="228" y="51"/>
      </p:cViewPr>
      <p:guideLst>
        <p:guide orient="horz" pos="215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5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pPr>
              <a:defRPr/>
            </a:pPr>
            <a:fld id="{FDDFD52B-EA8C-431E-A4F0-37E758CCB8BB}" type="datetimeFigureOut">
              <a:rPr lang="zh-CN" altLang="en-US"/>
              <a:t>2026/10/30</a:t>
            </a:fld>
            <a:endParaRPr lang="zh-CN" altLang="en-US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077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0"/>
              <a:t>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078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9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pPr>
              <a:defRPr/>
            </a:pPr>
            <a:fld id="{45E0B53C-16D9-49D8-BFDC-C10B08B0FD5E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endParaRPr lang="zh-CN" altLang="en-US" b="1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196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/>
            <a:fld id="{079B0B32-82D4-4F14-BB85-C7191CA9EEBB}" type="slidenum">
              <a:rPr lang="zh-CN" altLang="en-US" sz="1200">
                <a:latin typeface="等线" panose="02010600030101010101" pitchFamily="2" charset="-122"/>
                <a:ea typeface="等线" panose="02010600030101010101" pitchFamily="2" charset="-122"/>
              </a:rPr>
              <a:t>4</a:t>
            </a:fld>
            <a:endParaRPr lang="zh-CN" altLang="en-US" sz="12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9460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/>
            <a:fld id="{872A8B5A-5D86-4CE6-B432-BC2374375F92}" type="slidenum">
              <a:rPr lang="zh-CN" altLang="en-US" sz="120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6</a:t>
            </a:fld>
            <a:endParaRPr lang="zh-CN" altLang="en-US" sz="120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9460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/>
            <a:fld id="{872A8B5A-5D86-4CE6-B432-BC2374375F92}" type="slidenum">
              <a:rPr lang="zh-CN" altLang="en-US" sz="120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</a:t>
            </a:fld>
            <a:endParaRPr lang="zh-CN" altLang="en-US" sz="120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5E0B53C-16D9-49D8-BFDC-C10B08B0FD5E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891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38916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/>
            <a:fld id="{F53EC70D-D821-4076-930E-EE14874875BF}" type="slidenum">
              <a:rPr lang="zh-CN" altLang="en-US" sz="120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14</a:t>
            </a:fld>
            <a:endParaRPr lang="zh-CN" altLang="en-US" sz="120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096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0964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/>
            <a:fld id="{249324C0-4A3A-4902-9DEC-B1CBD106EE25}" type="slidenum">
              <a:rPr lang="zh-CN" altLang="en-US" sz="120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15</a:t>
            </a:fld>
            <a:endParaRPr lang="zh-CN" altLang="en-US" sz="120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301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3012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/>
            <a:fld id="{63CCD4F8-3EA3-4761-B306-E0814559225A}" type="slidenum">
              <a:rPr lang="zh-CN" altLang="en-US" sz="120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16</a:t>
            </a:fld>
            <a:endParaRPr lang="zh-CN" altLang="en-US" sz="120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DB5F02-E5EC-413F-B109-5F2900CEA1D3}" type="datetimeFigureOut">
              <a:rPr lang="zh-CN" altLang="en-US"/>
              <a:t>2026/10/30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5A3135-A25A-44CA-B5CE-34F3C544FF52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E501B8-4C17-4FF4-8D09-76FE56468662}" type="datetimeFigureOut">
              <a:rPr lang="zh-CN" altLang="en-US"/>
              <a:t>2026/10/30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7912AB-667E-4BDC-A313-5182C2528BA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A956D3-5DC8-4190-968F-94024EC09E19}" type="datetimeFigureOut">
              <a:rPr lang="zh-CN" altLang="en-US"/>
              <a:t>2026/10/30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7207D2-6D9E-4B03-B86E-1AA83CBE027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6BCD63-454B-427D-B29A-8A4452C954A8}" type="datetimeFigureOut">
              <a:rPr lang="zh-CN" altLang="en-US"/>
              <a:t>2026/10/30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A69F0E-4DB8-4BCC-8F0E-F4BBA9F683E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033DE2-B121-4305-89FD-361C23941AB4}" type="datetimeFigureOut">
              <a:rPr lang="zh-CN" altLang="en-US"/>
              <a:t>2026/10/30</a:t>
            </a:fld>
            <a:endParaRPr lang="zh-CN" altLang="en-US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315EA9-52E1-4B5D-AA60-1C59081DAB0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0A2A8-4BD7-4992-9A35-DF02F0808C50}" type="datetimeFigureOut">
              <a:rPr lang="zh-CN" altLang="en-US"/>
              <a:t>2026/10/30</a:t>
            </a:fld>
            <a:endParaRPr lang="zh-CN" altLang="en-US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C272D-B717-40F0-9A20-0399190A25A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BFD0ED-5B6C-4382-A5F8-A3F7D8D0DD16}" type="datetimeFigureOut">
              <a:rPr lang="zh-CN" altLang="en-US"/>
              <a:t>2026/10/30</a:t>
            </a:fld>
            <a:endParaRPr lang="zh-CN" altLang="en-US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7624BE-1BB0-4FE1-A1AA-F13F16824BF2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DA3BC8-D95E-4B37-958A-4F5FAF7212CF}" type="datetimeFigureOut">
              <a:rPr lang="zh-CN" altLang="en-US"/>
              <a:t>2026/10/30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79818F-3237-40F8-A082-AEB9A46413F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06B497-BC27-43F9-9E65-C52FCFAA2655}" type="datetimeFigureOut">
              <a:rPr lang="zh-CN" altLang="en-US"/>
              <a:t>2026/10/30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891A71-6E20-423E-B139-26235E14C5B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AB8CC9-2F33-41BA-8167-046B8A61FF96}" type="datetimeFigureOut">
              <a:rPr lang="zh-CN" altLang="en-US"/>
              <a:t>2026/10/30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80937F-61A5-44A3-9B5D-98355755FBA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E4CE82-955C-4DCA-AAE5-79EF219FC475}" type="datetimeFigureOut">
              <a:rPr lang="zh-CN" altLang="en-US"/>
              <a:t>2026/10/30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AFDAD0-B781-45C2-BCCA-47FF4C55F64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9646B966-7ECA-426D-AA34-DBA94C45310C}" type="datetimeFigureOut">
              <a:rPr lang="zh-CN" altLang="en-US"/>
              <a:t>2026/10/30</a:t>
            </a:fld>
            <a:endParaRPr lang="zh-CN" altLang="en-US"/>
          </a:p>
        </p:txBody>
      </p:sp>
      <p:sp>
        <p:nvSpPr>
          <p:cNvPr id="2051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2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AA965BD-7B4F-4DE0-BF25-52F2745C2638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624423">
            <a:off x="1617663" y="688975"/>
            <a:ext cx="8763000" cy="520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文本框 6"/>
          <p:cNvSpPr txBox="1">
            <a:spLocks noChangeArrowheads="1"/>
          </p:cNvSpPr>
          <p:nvPr/>
        </p:nvSpPr>
        <p:spPr bwMode="auto">
          <a:xfrm>
            <a:off x="3238500" y="1681163"/>
            <a:ext cx="5602288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lang="zh-CN" altLang="zh-CN" sz="4400" dirty="0">
                <a:solidFill>
                  <a:schemeClr val="bg1"/>
                </a:solidFill>
                <a:latin typeface="Impact" panose="020B0806030902050204" pitchFamily="34" charset="0"/>
              </a:rPr>
              <a:t>基于 Linux Framebuffer 的五子棋游戏设计与实现</a:t>
            </a:r>
            <a:endParaRPr lang="zh-CN" altLang="en-US" sz="44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3076" name="文本框 24"/>
          <p:cNvSpPr txBox="1">
            <a:spLocks noChangeArrowheads="1"/>
          </p:cNvSpPr>
          <p:nvPr/>
        </p:nvSpPr>
        <p:spPr bwMode="auto">
          <a:xfrm>
            <a:off x="2970212" y="4736581"/>
            <a:ext cx="6251575" cy="368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suaplus</a:t>
            </a:r>
            <a:endParaRPr lang="zh-CN" altLang="en-US" sz="2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077" name="文本框 26"/>
          <p:cNvSpPr txBox="1">
            <a:spLocks noChangeArrowheads="1"/>
          </p:cNvSpPr>
          <p:nvPr/>
        </p:nvSpPr>
        <p:spPr bwMode="auto">
          <a:xfrm>
            <a:off x="4133850" y="3949700"/>
            <a:ext cx="36131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dist" eaLnBrk="1" hangingPunct="1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</a:rPr>
              <a:t>BUSINESS REPORT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图片 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32" t="9293" r="6709" b="5219"/>
          <a:stretch>
            <a:fillRect/>
          </a:stretch>
        </p:blipFill>
        <p:spPr bwMode="auto">
          <a:xfrm>
            <a:off x="6838311" y="1584879"/>
            <a:ext cx="725488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文本框 20"/>
          <p:cNvSpPr txBox="1">
            <a:spLocks noChangeArrowheads="1"/>
          </p:cNvSpPr>
          <p:nvPr/>
        </p:nvSpPr>
        <p:spPr bwMode="auto">
          <a:xfrm>
            <a:off x="7690799" y="1688067"/>
            <a:ext cx="3429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007F58"/>
                </a:solidFill>
                <a:latin typeface="微软雅黑" panose="020B0503020204020204" pitchFamily="34" charset="-122"/>
              </a:rPr>
              <a:t>项目背景</a:t>
            </a:r>
          </a:p>
        </p:txBody>
      </p:sp>
      <p:sp>
        <p:nvSpPr>
          <p:cNvPr id="5124" name="文本框 21"/>
          <p:cNvSpPr txBox="1">
            <a:spLocks noChangeArrowheads="1"/>
          </p:cNvSpPr>
          <p:nvPr/>
        </p:nvSpPr>
        <p:spPr bwMode="auto">
          <a:xfrm>
            <a:off x="6838311" y="1597579"/>
            <a:ext cx="5969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lang="en-US" altLang="zh-CN" sz="3600">
                <a:solidFill>
                  <a:schemeClr val="bg1"/>
                </a:solidFill>
                <a:latin typeface="Impact" panose="020B0806030902050204" pitchFamily="34" charset="0"/>
              </a:rPr>
              <a:t>1</a:t>
            </a:r>
            <a:endParaRPr lang="zh-CN" altLang="en-US" sz="36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125" name="图片 2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32" t="9293" r="6709" b="5219"/>
          <a:stretch>
            <a:fillRect/>
          </a:stretch>
        </p:blipFill>
        <p:spPr bwMode="auto">
          <a:xfrm>
            <a:off x="6838311" y="2496104"/>
            <a:ext cx="725488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6" name="文本框 25"/>
          <p:cNvSpPr txBox="1">
            <a:spLocks noChangeArrowheads="1"/>
          </p:cNvSpPr>
          <p:nvPr/>
        </p:nvSpPr>
        <p:spPr bwMode="auto">
          <a:xfrm>
            <a:off x="7690799" y="2599292"/>
            <a:ext cx="3429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007F58"/>
                </a:solidFill>
                <a:latin typeface="微软雅黑" panose="020B0503020204020204" pitchFamily="34" charset="-122"/>
              </a:rPr>
              <a:t>项目功能描述及效果</a:t>
            </a:r>
          </a:p>
        </p:txBody>
      </p:sp>
      <p:sp>
        <p:nvSpPr>
          <p:cNvPr id="5127" name="文本框 26"/>
          <p:cNvSpPr txBox="1">
            <a:spLocks noChangeArrowheads="1"/>
          </p:cNvSpPr>
          <p:nvPr/>
        </p:nvSpPr>
        <p:spPr bwMode="auto">
          <a:xfrm>
            <a:off x="6838311" y="2508804"/>
            <a:ext cx="5969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lang="en-US" altLang="zh-CN" sz="3600">
                <a:solidFill>
                  <a:schemeClr val="bg1"/>
                </a:solidFill>
                <a:latin typeface="Impact" panose="020B0806030902050204" pitchFamily="34" charset="0"/>
              </a:rPr>
              <a:t>2</a:t>
            </a:r>
            <a:endParaRPr lang="zh-CN" altLang="en-US" sz="36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128" name="图片 2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32" t="9293" r="6709" b="5219"/>
          <a:stretch>
            <a:fillRect/>
          </a:stretch>
        </p:blipFill>
        <p:spPr bwMode="auto">
          <a:xfrm>
            <a:off x="6838311" y="3383517"/>
            <a:ext cx="725488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9" name="文本框 28"/>
          <p:cNvSpPr txBox="1">
            <a:spLocks noChangeArrowheads="1"/>
          </p:cNvSpPr>
          <p:nvPr/>
        </p:nvSpPr>
        <p:spPr bwMode="auto">
          <a:xfrm>
            <a:off x="7690799" y="3486704"/>
            <a:ext cx="3429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007F58"/>
                </a:solidFill>
                <a:latin typeface="微软雅黑" panose="020B0503020204020204" pitchFamily="34" charset="-122"/>
              </a:rPr>
              <a:t>项目具体实现</a:t>
            </a:r>
          </a:p>
        </p:txBody>
      </p:sp>
      <p:sp>
        <p:nvSpPr>
          <p:cNvPr id="5130" name="文本框 29"/>
          <p:cNvSpPr txBox="1">
            <a:spLocks noChangeArrowheads="1"/>
          </p:cNvSpPr>
          <p:nvPr/>
        </p:nvSpPr>
        <p:spPr bwMode="auto">
          <a:xfrm>
            <a:off x="6838311" y="3396217"/>
            <a:ext cx="5969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lang="en-US" altLang="zh-CN" sz="3600">
                <a:solidFill>
                  <a:schemeClr val="bg1"/>
                </a:solidFill>
                <a:latin typeface="Impact" panose="020B0806030902050204" pitchFamily="34" charset="0"/>
              </a:rPr>
              <a:t>3</a:t>
            </a:r>
            <a:endParaRPr lang="zh-CN" altLang="en-US" sz="36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131" name="图片 3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32" t="9293" r="6709" b="5219"/>
          <a:stretch>
            <a:fillRect/>
          </a:stretch>
        </p:blipFill>
        <p:spPr bwMode="auto">
          <a:xfrm>
            <a:off x="6838311" y="4296329"/>
            <a:ext cx="725488" cy="665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2" name="文本框 31"/>
          <p:cNvSpPr txBox="1">
            <a:spLocks noChangeArrowheads="1"/>
          </p:cNvSpPr>
          <p:nvPr/>
        </p:nvSpPr>
        <p:spPr bwMode="auto">
          <a:xfrm>
            <a:off x="7690799" y="4397929"/>
            <a:ext cx="3429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007F58"/>
                </a:solidFill>
                <a:latin typeface="微软雅黑" panose="020B0503020204020204" pitchFamily="34" charset="-122"/>
              </a:rPr>
              <a:t>项目总结</a:t>
            </a:r>
          </a:p>
        </p:txBody>
      </p:sp>
      <p:sp>
        <p:nvSpPr>
          <p:cNvPr id="5133" name="文本框 33"/>
          <p:cNvSpPr txBox="1">
            <a:spLocks noChangeArrowheads="1"/>
          </p:cNvSpPr>
          <p:nvPr/>
        </p:nvSpPr>
        <p:spPr bwMode="auto">
          <a:xfrm>
            <a:off x="6838311" y="4309029"/>
            <a:ext cx="59690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lang="en-US" altLang="zh-CN" sz="3600">
                <a:solidFill>
                  <a:schemeClr val="bg1"/>
                </a:solidFill>
                <a:latin typeface="Impact" panose="020B0806030902050204" pitchFamily="34" charset="0"/>
              </a:rPr>
              <a:t>4</a:t>
            </a:r>
            <a:endParaRPr lang="zh-CN" altLang="en-US" sz="36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137" name="图片 1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624423">
            <a:off x="423863" y="1516063"/>
            <a:ext cx="5759450" cy="3421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8" name="文本框 32"/>
          <p:cNvSpPr txBox="1">
            <a:spLocks noChangeArrowheads="1"/>
          </p:cNvSpPr>
          <p:nvPr/>
        </p:nvSpPr>
        <p:spPr bwMode="auto">
          <a:xfrm>
            <a:off x="1250950" y="2717800"/>
            <a:ext cx="4445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lang="en-US" altLang="zh-CN" sz="6600">
                <a:solidFill>
                  <a:schemeClr val="bg1"/>
                </a:solidFill>
                <a:latin typeface="Impact" panose="020B0806030902050204" pitchFamily="34" charset="0"/>
              </a:rPr>
              <a:t>CONTENTS</a:t>
            </a:r>
            <a:endParaRPr lang="zh-CN" altLang="en-US" sz="66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文本框 13"/>
          <p:cNvSpPr txBox="1">
            <a:spLocks noChangeArrowheads="1"/>
          </p:cNvSpPr>
          <p:nvPr/>
        </p:nvSpPr>
        <p:spPr bwMode="auto">
          <a:xfrm>
            <a:off x="2967038" y="4416425"/>
            <a:ext cx="606425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lang="zh-CN" altLang="en-US" sz="4800" b="1" dirty="0">
                <a:solidFill>
                  <a:srgbClr val="007F58"/>
                </a:solidFill>
                <a:latin typeface="微软雅黑" panose="020B0503020204020204" pitchFamily="34" charset="-122"/>
              </a:rPr>
              <a:t>项目背景</a:t>
            </a:r>
          </a:p>
        </p:txBody>
      </p:sp>
      <p:grpSp>
        <p:nvGrpSpPr>
          <p:cNvPr id="6147" name="组合 4"/>
          <p:cNvGrpSpPr>
            <a:grpSpLocks noChangeAspect="1"/>
          </p:cNvGrpSpPr>
          <p:nvPr/>
        </p:nvGrpSpPr>
        <p:grpSpPr bwMode="auto">
          <a:xfrm>
            <a:off x="4357688" y="1117600"/>
            <a:ext cx="3155950" cy="2946400"/>
            <a:chOff x="0" y="0"/>
            <a:chExt cx="6822015" cy="6383223"/>
          </a:xfrm>
        </p:grpSpPr>
        <p:pic>
          <p:nvPicPr>
            <p:cNvPr id="6150" name="图片 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73" y="0"/>
              <a:ext cx="6818442" cy="6383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51" name="图片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6822015" cy="63830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148" name="文本框 2"/>
          <p:cNvSpPr txBox="1">
            <a:spLocks noChangeArrowheads="1"/>
          </p:cNvSpPr>
          <p:nvPr/>
        </p:nvSpPr>
        <p:spPr bwMode="auto">
          <a:xfrm>
            <a:off x="5130800" y="1338263"/>
            <a:ext cx="1609725" cy="255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lang="en-US" altLang="zh-CN" sz="16600">
                <a:solidFill>
                  <a:schemeClr val="bg1"/>
                </a:solidFill>
                <a:latin typeface="Impact" panose="020B0806030902050204" pitchFamily="34" charset="0"/>
              </a:rPr>
              <a:t>1</a:t>
            </a:r>
            <a:endParaRPr lang="zh-CN" altLang="en-US" sz="166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7" name="图片 4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32" t="9293" r="6709" b="5219"/>
          <a:stretch>
            <a:fillRect/>
          </a:stretch>
        </p:blipFill>
        <p:spPr bwMode="auto">
          <a:xfrm>
            <a:off x="261938" y="160338"/>
            <a:ext cx="725487" cy="665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88" name="文本框 46"/>
          <p:cNvSpPr txBox="1">
            <a:spLocks noChangeArrowheads="1"/>
          </p:cNvSpPr>
          <p:nvPr/>
        </p:nvSpPr>
        <p:spPr bwMode="auto">
          <a:xfrm>
            <a:off x="987425" y="266700"/>
            <a:ext cx="22574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007F58"/>
                </a:solidFill>
                <a:latin typeface="微软雅黑" panose="020B0503020204020204" pitchFamily="34" charset="-122"/>
              </a:rPr>
              <a:t>项目背景</a:t>
            </a:r>
          </a:p>
        </p:txBody>
      </p:sp>
      <p:sp>
        <p:nvSpPr>
          <p:cNvPr id="7189" name="文本框 47"/>
          <p:cNvSpPr txBox="1">
            <a:spLocks noChangeArrowheads="1"/>
          </p:cNvSpPr>
          <p:nvPr/>
        </p:nvSpPr>
        <p:spPr bwMode="auto">
          <a:xfrm>
            <a:off x="261938" y="177800"/>
            <a:ext cx="627062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lang="en-US" altLang="zh-CN" sz="3600">
                <a:solidFill>
                  <a:schemeClr val="bg1"/>
                </a:solidFill>
                <a:latin typeface="Impact" panose="020B0806030902050204" pitchFamily="34" charset="0"/>
              </a:rPr>
              <a:t>1</a:t>
            </a:r>
            <a:endParaRPr lang="zh-CN" altLang="en-US" sz="36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73251" y="1237185"/>
            <a:ext cx="10181138" cy="4028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</a:pPr>
            <a:r>
              <a:rPr lang="en-US" altLang="zh-CN" b="1" dirty="0"/>
              <a:t>1. </a:t>
            </a:r>
            <a:r>
              <a:rPr lang="zh-CN" altLang="zh-CN" b="1" dirty="0"/>
              <a:t>技术背景 </a:t>
            </a:r>
            <a:endParaRPr lang="en-US" altLang="zh-CN" dirty="0"/>
          </a:p>
          <a:p>
            <a:pPr lvl="0">
              <a:lnSpc>
                <a:spcPct val="125000"/>
              </a:lnSpc>
            </a:pPr>
            <a:r>
              <a:rPr lang="zh-CN" altLang="zh-CN" dirty="0"/>
              <a:t>Framebuffer</a:t>
            </a:r>
            <a:r>
              <a:rPr lang="en-US" altLang="zh-CN" dirty="0"/>
              <a:t> </a:t>
            </a:r>
            <a:r>
              <a:rPr lang="zh-CN" altLang="en-US" dirty="0"/>
              <a:t>帧缓存、帧缓冲技术：   </a:t>
            </a:r>
            <a:endParaRPr lang="en-US" altLang="zh-CN" dirty="0"/>
          </a:p>
          <a:p>
            <a:pPr lvl="0">
              <a:lnSpc>
                <a:spcPct val="125000"/>
              </a:lnSpc>
            </a:pPr>
            <a:r>
              <a:rPr lang="en-US" altLang="zh-CN" dirty="0"/>
              <a:t>	</a:t>
            </a:r>
            <a:r>
              <a:rPr lang="en-US" altLang="zh-CN" dirty="0" err="1"/>
              <a:t>linux</a:t>
            </a:r>
            <a:r>
              <a:rPr lang="en-US" altLang="zh-CN" dirty="0"/>
              <a:t> </a:t>
            </a:r>
            <a:r>
              <a:rPr lang="zh-CN" altLang="en-US" dirty="0"/>
              <a:t>内核为应用层提供的一种图形化显示的接口技术；</a:t>
            </a:r>
            <a:endParaRPr lang="en-US" altLang="zh-CN" dirty="0"/>
          </a:p>
          <a:p>
            <a:pPr lvl="0">
              <a:lnSpc>
                <a:spcPct val="125000"/>
              </a:lnSpc>
            </a:pPr>
            <a:r>
              <a:rPr lang="en-US" altLang="zh-CN" dirty="0"/>
              <a:t>	</a:t>
            </a:r>
            <a:r>
              <a:rPr lang="en-US" altLang="zh-CN" dirty="0" err="1"/>
              <a:t>linux</a:t>
            </a:r>
            <a:r>
              <a:rPr lang="zh-CN" altLang="en-US" dirty="0"/>
              <a:t>下的一个设备文件 </a:t>
            </a:r>
            <a:r>
              <a:rPr lang="en-US" altLang="zh-CN" dirty="0"/>
              <a:t>/dev/fb0</a:t>
            </a:r>
            <a:r>
              <a:rPr lang="zh-CN" altLang="en-US" dirty="0"/>
              <a:t>。</a:t>
            </a:r>
          </a:p>
          <a:p>
            <a:pPr lvl="0">
              <a:lnSpc>
                <a:spcPct val="125000"/>
              </a:lnSpc>
            </a:pPr>
            <a:r>
              <a:rPr lang="en-US" altLang="zh-CN" dirty="0"/>
              <a:t>C</a:t>
            </a:r>
            <a:r>
              <a:rPr lang="zh-CN" altLang="en-US" dirty="0"/>
              <a:t>语言知识。</a:t>
            </a:r>
            <a:endParaRPr lang="en-US" altLang="zh-CN" dirty="0"/>
          </a:p>
          <a:p>
            <a:pPr lvl="0">
              <a:lnSpc>
                <a:spcPct val="125000"/>
              </a:lnSpc>
            </a:pPr>
            <a:endParaRPr lang="en-US" altLang="zh-CN" dirty="0"/>
          </a:p>
          <a:p>
            <a:pPr lvl="0">
              <a:lnSpc>
                <a:spcPct val="125000"/>
              </a:lnSpc>
            </a:pPr>
            <a:endParaRPr lang="zh-CN" altLang="zh-CN" dirty="0"/>
          </a:p>
          <a:p>
            <a:pPr lvl="0">
              <a:lnSpc>
                <a:spcPct val="125000"/>
              </a:lnSpc>
              <a:spcAft>
                <a:spcPts val="500"/>
              </a:spcAft>
            </a:pPr>
            <a:r>
              <a:rPr lang="en-US" altLang="zh-CN" b="1" dirty="0"/>
              <a:t>2. </a:t>
            </a:r>
            <a:r>
              <a:rPr lang="zh-CN" altLang="zh-CN" b="1" dirty="0"/>
              <a:t>项目意义 </a:t>
            </a:r>
            <a:endParaRPr lang="en-US" altLang="zh-CN" dirty="0"/>
          </a:p>
          <a:p>
            <a:pPr lvl="0">
              <a:lnSpc>
                <a:spcPct val="125000"/>
              </a:lnSpc>
            </a:pPr>
            <a:r>
              <a:rPr lang="zh-CN" altLang="zh-CN" dirty="0"/>
              <a:t>通过实现五子棋游戏，掌握 Linux 系统编程、内存映射、底层图形渲染的核心方法</a:t>
            </a:r>
            <a:r>
              <a:rPr lang="zh-CN" altLang="en-US" dirty="0"/>
              <a:t>；</a:t>
            </a:r>
            <a:endParaRPr lang="en-US" altLang="zh-CN" dirty="0"/>
          </a:p>
          <a:p>
            <a:pPr lvl="0">
              <a:lnSpc>
                <a:spcPct val="125000"/>
              </a:lnSpc>
            </a:pPr>
            <a:r>
              <a:rPr lang="zh-CN" altLang="zh-CN" dirty="0"/>
              <a:t>以经典益智游戏为载体，练习模块化代码设计、游戏逻辑实现与边界问题处理</a:t>
            </a:r>
            <a:r>
              <a:rPr lang="zh-CN" altLang="en-US" dirty="0"/>
              <a:t>。</a:t>
            </a:r>
            <a:endParaRPr lang="zh-CN" altLang="zh-CN" dirty="0"/>
          </a:p>
          <a:p>
            <a:pPr>
              <a:lnSpc>
                <a:spcPct val="125000"/>
              </a:lnSpc>
            </a:pPr>
            <a:endParaRPr lang="zh-CN" altLang="en-US" dirty="0"/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文本框 13"/>
          <p:cNvSpPr txBox="1">
            <a:spLocks noChangeArrowheads="1"/>
          </p:cNvSpPr>
          <p:nvPr/>
        </p:nvSpPr>
        <p:spPr bwMode="auto">
          <a:xfrm>
            <a:off x="2967038" y="4416425"/>
            <a:ext cx="60642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lang="zh-CN" altLang="en-US" sz="4800" b="1" dirty="0">
                <a:solidFill>
                  <a:srgbClr val="007F58"/>
                </a:solidFill>
                <a:latin typeface="微软雅黑" panose="020B0503020204020204" pitchFamily="34" charset="-122"/>
              </a:rPr>
              <a:t>项目功能描述及效果</a:t>
            </a:r>
          </a:p>
        </p:txBody>
      </p:sp>
      <p:grpSp>
        <p:nvGrpSpPr>
          <p:cNvPr id="17411" name="组合 4"/>
          <p:cNvGrpSpPr>
            <a:grpSpLocks noChangeAspect="1"/>
          </p:cNvGrpSpPr>
          <p:nvPr/>
        </p:nvGrpSpPr>
        <p:grpSpPr bwMode="auto">
          <a:xfrm>
            <a:off x="4357688" y="1117600"/>
            <a:ext cx="3155950" cy="2946400"/>
            <a:chOff x="0" y="0"/>
            <a:chExt cx="6822015" cy="6383223"/>
          </a:xfrm>
        </p:grpSpPr>
        <p:pic>
          <p:nvPicPr>
            <p:cNvPr id="17414" name="图片 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73" y="0"/>
              <a:ext cx="6818442" cy="6383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15" name="图片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6822015" cy="63830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412" name="文本框 2"/>
          <p:cNvSpPr txBox="1">
            <a:spLocks noChangeArrowheads="1"/>
          </p:cNvSpPr>
          <p:nvPr/>
        </p:nvSpPr>
        <p:spPr bwMode="auto">
          <a:xfrm>
            <a:off x="5130800" y="1338263"/>
            <a:ext cx="1609725" cy="255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lang="en-US" altLang="zh-CN" sz="16600">
                <a:solidFill>
                  <a:schemeClr val="bg1"/>
                </a:solidFill>
                <a:latin typeface="Impact" panose="020B0806030902050204" pitchFamily="34" charset="0"/>
              </a:rPr>
              <a:t>2</a:t>
            </a:r>
            <a:endParaRPr lang="zh-CN" altLang="en-US" sz="166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7" name="图片 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32" t="9293" r="6709" b="5219"/>
          <a:stretch>
            <a:fillRect/>
          </a:stretch>
        </p:blipFill>
        <p:spPr bwMode="auto">
          <a:xfrm>
            <a:off x="261938" y="160338"/>
            <a:ext cx="725487" cy="665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8" name="文本框 19"/>
          <p:cNvSpPr txBox="1">
            <a:spLocks noChangeArrowheads="1"/>
          </p:cNvSpPr>
          <p:nvPr/>
        </p:nvSpPr>
        <p:spPr bwMode="auto">
          <a:xfrm>
            <a:off x="987425" y="266700"/>
            <a:ext cx="356002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117A68"/>
                </a:solidFill>
                <a:latin typeface="微软雅黑" panose="020B0503020204020204" pitchFamily="34" charset="-122"/>
              </a:rPr>
              <a:t>项目功能描述</a:t>
            </a:r>
          </a:p>
        </p:txBody>
      </p:sp>
      <p:sp>
        <p:nvSpPr>
          <p:cNvPr id="18439" name="文本框 20"/>
          <p:cNvSpPr txBox="1">
            <a:spLocks noChangeArrowheads="1"/>
          </p:cNvSpPr>
          <p:nvPr/>
        </p:nvSpPr>
        <p:spPr bwMode="auto">
          <a:xfrm>
            <a:off x="261938" y="177800"/>
            <a:ext cx="627062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lang="en-US" altLang="zh-CN" sz="3600">
                <a:solidFill>
                  <a:schemeClr val="bg1"/>
                </a:solidFill>
                <a:latin typeface="Impact" panose="020B0806030902050204" pitchFamily="34" charset="0"/>
              </a:rPr>
              <a:t>2</a:t>
            </a:r>
            <a:endParaRPr lang="zh-CN" altLang="en-US" sz="36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73250" y="1237185"/>
            <a:ext cx="10807103" cy="5413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</a:pPr>
            <a:r>
              <a:rPr lang="en-US" altLang="zh-CN" b="1" dirty="0"/>
              <a:t>1. </a:t>
            </a:r>
            <a:r>
              <a:rPr lang="zh-CN" altLang="en-US" b="1" dirty="0"/>
              <a:t>功能总览：</a:t>
            </a:r>
            <a:r>
              <a:rPr lang="zh-CN" altLang="zh-CN" b="1" dirty="0"/>
              <a:t> </a:t>
            </a:r>
            <a:endParaRPr lang="en-US" altLang="zh-CN" dirty="0"/>
          </a:p>
          <a:p>
            <a:pPr lvl="0">
              <a:lnSpc>
                <a:spcPct val="125000"/>
              </a:lnSpc>
            </a:pPr>
            <a:r>
              <a:rPr lang="zh-CN" altLang="en-US" dirty="0"/>
              <a:t>在</a:t>
            </a:r>
            <a:r>
              <a:rPr lang="en-US" altLang="zh-CN" dirty="0"/>
              <a:t>Linux</a:t>
            </a:r>
            <a:r>
              <a:rPr lang="zh-CN" altLang="en-US" dirty="0"/>
              <a:t>环境下、基于帧缓冲驱动的双人对战五子棋游戏，完整覆盖从界面显示到对局逻辑的全流程。</a:t>
            </a:r>
            <a:endParaRPr lang="en-US" altLang="zh-CN" dirty="0"/>
          </a:p>
          <a:p>
            <a:pPr lvl="0">
              <a:lnSpc>
                <a:spcPct val="125000"/>
              </a:lnSpc>
            </a:pPr>
            <a:endParaRPr lang="zh-CN" altLang="zh-CN" dirty="0"/>
          </a:p>
          <a:p>
            <a:pPr lvl="0">
              <a:lnSpc>
                <a:spcPct val="125000"/>
              </a:lnSpc>
              <a:spcAft>
                <a:spcPts val="500"/>
              </a:spcAft>
            </a:pPr>
            <a:r>
              <a:rPr lang="en-US" altLang="zh-CN" b="1" dirty="0"/>
              <a:t>2. </a:t>
            </a:r>
            <a:r>
              <a:rPr lang="zh-CN" altLang="en-US" b="1" dirty="0"/>
              <a:t>详细功能说明</a:t>
            </a:r>
            <a:endParaRPr lang="en-US" altLang="zh-CN" dirty="0"/>
          </a:p>
          <a:p>
            <a:pPr lvl="0">
              <a:lnSpc>
                <a:spcPct val="125000"/>
              </a:lnSpc>
            </a:pPr>
            <a:r>
              <a:rPr lang="en-US" altLang="zh-CN" dirty="0"/>
              <a:t>(1)</a:t>
            </a:r>
            <a:r>
              <a:rPr lang="zh-CN" altLang="en-US" dirty="0"/>
              <a:t>界面显示功能</a:t>
            </a:r>
          </a:p>
          <a:p>
            <a:pPr lvl="0">
              <a:lnSpc>
                <a:spcPct val="125000"/>
              </a:lnSpc>
            </a:pPr>
            <a:r>
              <a:rPr lang="zh-CN" altLang="en-US" dirty="0"/>
              <a:t>   </a:t>
            </a:r>
            <a:r>
              <a:rPr lang="en-US" altLang="zh-CN" dirty="0"/>
              <a:t>    </a:t>
            </a:r>
            <a:r>
              <a:rPr lang="zh-CN" altLang="en-US" dirty="0"/>
              <a:t>支持黑白棋子绘制、红色选择光标显示。对局结束自动弹出胜负结果提示图；</a:t>
            </a:r>
          </a:p>
          <a:p>
            <a:pPr lvl="0">
              <a:lnSpc>
                <a:spcPct val="125000"/>
              </a:lnSpc>
            </a:pPr>
            <a:r>
              <a:rPr lang="en-US" altLang="zh-CN" dirty="0"/>
              <a:t>       </a:t>
            </a:r>
            <a:r>
              <a:rPr lang="zh-CN" altLang="en-US" dirty="0"/>
              <a:t>支持</a:t>
            </a:r>
            <a:r>
              <a:rPr lang="en-US" altLang="zh-CN" dirty="0"/>
              <a:t>BMP</a:t>
            </a:r>
            <a:r>
              <a:rPr lang="zh-CN" altLang="en-US" dirty="0"/>
              <a:t>背景图加载，绘制木色棋盘与</a:t>
            </a:r>
            <a:r>
              <a:rPr lang="en-US" altLang="zh-CN" dirty="0"/>
              <a:t>20x20</a:t>
            </a:r>
            <a:r>
              <a:rPr lang="zh-CN" altLang="en-US" dirty="0"/>
              <a:t>标准网。</a:t>
            </a:r>
          </a:p>
          <a:p>
            <a:pPr lvl="0">
              <a:lnSpc>
                <a:spcPct val="125000"/>
              </a:lnSpc>
            </a:pPr>
            <a:r>
              <a:rPr lang="en-US" altLang="zh-CN" dirty="0"/>
              <a:t>(2)</a:t>
            </a:r>
            <a:r>
              <a:rPr lang="zh-CN" altLang="en-US" dirty="0"/>
              <a:t>操作交互功能</a:t>
            </a:r>
          </a:p>
          <a:p>
            <a:pPr lvl="0">
              <a:lnSpc>
                <a:spcPct val="125000"/>
              </a:lnSpc>
            </a:pPr>
            <a:r>
              <a:rPr lang="zh-CN" altLang="en-US" dirty="0"/>
              <a:t>       键盘</a:t>
            </a:r>
            <a:r>
              <a:rPr lang="en-US" altLang="zh-CN" dirty="0"/>
              <a:t>w/a/s/d</a:t>
            </a:r>
            <a:r>
              <a:rPr lang="zh-CN" altLang="en-US" dirty="0"/>
              <a:t>控制光标上下左右移动，选择落子位置</a:t>
            </a:r>
            <a:r>
              <a:rPr lang="en-US" altLang="zh-CN" dirty="0"/>
              <a:t>;</a:t>
            </a:r>
          </a:p>
          <a:p>
            <a:pPr lvl="0">
              <a:lnSpc>
                <a:spcPct val="125000"/>
              </a:lnSpc>
            </a:pPr>
            <a:r>
              <a:rPr lang="en-US" altLang="zh-CN" dirty="0"/>
              <a:t>       </a:t>
            </a:r>
            <a:r>
              <a:rPr lang="zh-CN" altLang="en-US" dirty="0"/>
              <a:t>空格键执行落子，黑白双方自动交替落子。</a:t>
            </a:r>
            <a:r>
              <a:rPr lang="en-US" altLang="zh-CN" dirty="0"/>
              <a:t>r</a:t>
            </a:r>
            <a:r>
              <a:rPr lang="zh-CN" altLang="en-US" dirty="0"/>
              <a:t>键实现单步悔棋，回退上一步落子状态。</a:t>
            </a:r>
          </a:p>
          <a:p>
            <a:pPr lvl="0">
              <a:lnSpc>
                <a:spcPct val="125000"/>
              </a:lnSpc>
            </a:pPr>
            <a:r>
              <a:rPr lang="en-US" altLang="zh-CN" dirty="0"/>
              <a:t>(3)</a:t>
            </a:r>
            <a:r>
              <a:rPr lang="zh-CN" altLang="en-US" dirty="0"/>
              <a:t>游戏规则功能</a:t>
            </a:r>
            <a:endParaRPr lang="en-US" altLang="zh-CN" dirty="0"/>
          </a:p>
          <a:p>
            <a:pPr lvl="0">
              <a:lnSpc>
                <a:spcPct val="125000"/>
              </a:lnSpc>
            </a:pPr>
            <a:r>
              <a:rPr lang="en-US" altLang="zh-CN" dirty="0"/>
              <a:t>       </a:t>
            </a:r>
            <a:r>
              <a:rPr lang="zh-CN" altLang="en-US" dirty="0"/>
              <a:t>自动拦截重复落子，仅允许在空位落子；</a:t>
            </a:r>
          </a:p>
          <a:p>
            <a:pPr lvl="0">
              <a:lnSpc>
                <a:spcPct val="125000"/>
              </a:lnSpc>
            </a:pPr>
            <a:r>
              <a:rPr lang="zh-CN" altLang="en-US" dirty="0"/>
              <a:t>       实时胜负判定，横、竖、斜向连成五子即判胜；</a:t>
            </a:r>
          </a:p>
          <a:p>
            <a:pPr lvl="0">
              <a:lnSpc>
                <a:spcPct val="125000"/>
              </a:lnSpc>
            </a:pPr>
            <a:r>
              <a:rPr lang="zh-CN" altLang="en-US" dirty="0"/>
              <a:t>       右侧提示区显示当前轮到哪一方落子。</a:t>
            </a:r>
            <a:endParaRPr lang="zh-CN" altLang="zh-CN" dirty="0"/>
          </a:p>
          <a:p>
            <a:pPr>
              <a:lnSpc>
                <a:spcPct val="125000"/>
              </a:lnSpc>
            </a:pPr>
            <a:endParaRPr lang="zh-CN" altLang="en-US" dirty="0"/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7" name="图片 1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32" t="9293" r="6709" b="5219"/>
          <a:stretch>
            <a:fillRect/>
          </a:stretch>
        </p:blipFill>
        <p:spPr bwMode="auto">
          <a:xfrm>
            <a:off x="261938" y="160338"/>
            <a:ext cx="725487" cy="665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8" name="文本框 19"/>
          <p:cNvSpPr txBox="1">
            <a:spLocks noChangeArrowheads="1"/>
          </p:cNvSpPr>
          <p:nvPr/>
        </p:nvSpPr>
        <p:spPr bwMode="auto">
          <a:xfrm>
            <a:off x="987425" y="266700"/>
            <a:ext cx="356002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117A68"/>
                </a:solidFill>
                <a:latin typeface="微软雅黑" panose="020B0503020204020204" pitchFamily="34" charset="-122"/>
              </a:rPr>
              <a:t>项目实现效果</a:t>
            </a:r>
          </a:p>
        </p:txBody>
      </p:sp>
      <p:sp>
        <p:nvSpPr>
          <p:cNvPr id="18439" name="文本框 20"/>
          <p:cNvSpPr txBox="1">
            <a:spLocks noChangeArrowheads="1"/>
          </p:cNvSpPr>
          <p:nvPr/>
        </p:nvSpPr>
        <p:spPr bwMode="auto">
          <a:xfrm>
            <a:off x="261938" y="177800"/>
            <a:ext cx="627062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lang="en-US" altLang="zh-CN" sz="3600">
                <a:solidFill>
                  <a:schemeClr val="bg1"/>
                </a:solidFill>
                <a:latin typeface="Impact" panose="020B0806030902050204" pitchFamily="34" charset="0"/>
              </a:rPr>
              <a:t>2</a:t>
            </a:r>
            <a:endParaRPr lang="zh-CN" altLang="en-US" sz="36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3" name="8月12日 (1)(1)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98507" y="834727"/>
            <a:ext cx="9647227" cy="6029517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14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文本框 13"/>
          <p:cNvSpPr txBox="1">
            <a:spLocks noChangeArrowheads="1"/>
          </p:cNvSpPr>
          <p:nvPr/>
        </p:nvSpPr>
        <p:spPr bwMode="auto">
          <a:xfrm>
            <a:off x="2967038" y="4416425"/>
            <a:ext cx="606425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lang="zh-CN" altLang="en-US" sz="4800" b="1" dirty="0">
                <a:solidFill>
                  <a:srgbClr val="117A68"/>
                </a:solidFill>
                <a:latin typeface="微软雅黑" panose="020B0503020204020204" pitchFamily="34" charset="-122"/>
              </a:rPr>
              <a:t>项目具体实现</a:t>
            </a:r>
          </a:p>
        </p:txBody>
      </p:sp>
      <p:grpSp>
        <p:nvGrpSpPr>
          <p:cNvPr id="26627" name="组合 4"/>
          <p:cNvGrpSpPr>
            <a:grpSpLocks noChangeAspect="1"/>
          </p:cNvGrpSpPr>
          <p:nvPr/>
        </p:nvGrpSpPr>
        <p:grpSpPr bwMode="auto">
          <a:xfrm>
            <a:off x="4357688" y="1117600"/>
            <a:ext cx="3155950" cy="2946400"/>
            <a:chOff x="0" y="0"/>
            <a:chExt cx="6822015" cy="6383223"/>
          </a:xfrm>
        </p:grpSpPr>
        <p:pic>
          <p:nvPicPr>
            <p:cNvPr id="26630" name="图片 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73" y="0"/>
              <a:ext cx="6818442" cy="6383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631" name="图片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6822015" cy="63830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6628" name="文本框 2"/>
          <p:cNvSpPr txBox="1">
            <a:spLocks noChangeArrowheads="1"/>
          </p:cNvSpPr>
          <p:nvPr/>
        </p:nvSpPr>
        <p:spPr bwMode="auto">
          <a:xfrm>
            <a:off x="5130800" y="1338263"/>
            <a:ext cx="1609725" cy="255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lang="en-US" altLang="zh-CN" sz="16600">
                <a:solidFill>
                  <a:schemeClr val="bg1"/>
                </a:solidFill>
                <a:latin typeface="Impact" panose="020B0806030902050204" pitchFamily="34" charset="0"/>
              </a:rPr>
              <a:t>3</a:t>
            </a:r>
            <a:endParaRPr lang="zh-CN" altLang="en-US" sz="166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4"/>
          <p:cNvGrpSpPr>
            <a:grpSpLocks noChangeAspect="1"/>
          </p:cNvGrpSpPr>
          <p:nvPr/>
        </p:nvGrpSpPr>
        <p:grpSpPr bwMode="auto">
          <a:xfrm>
            <a:off x="440622" y="1860560"/>
            <a:ext cx="3155950" cy="2946400"/>
            <a:chOff x="0" y="0"/>
            <a:chExt cx="6822015" cy="6383223"/>
          </a:xfrm>
        </p:grpSpPr>
        <p:pic>
          <p:nvPicPr>
            <p:cNvPr id="7" name="图片 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73" y="0"/>
              <a:ext cx="6818442" cy="6383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图片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6822015" cy="63830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7675" name="图片 3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32" t="9293" r="6709" b="5219"/>
          <a:stretch>
            <a:fillRect/>
          </a:stretch>
        </p:blipFill>
        <p:spPr bwMode="auto">
          <a:xfrm>
            <a:off x="261938" y="160338"/>
            <a:ext cx="725487" cy="665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76" name="文本框 59"/>
          <p:cNvSpPr txBox="1">
            <a:spLocks noChangeArrowheads="1"/>
          </p:cNvSpPr>
          <p:nvPr/>
        </p:nvSpPr>
        <p:spPr bwMode="auto">
          <a:xfrm>
            <a:off x="987425" y="266700"/>
            <a:ext cx="22574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lang="zh-CN" altLang="en-US" sz="2400" b="1" dirty="0">
                <a:solidFill>
                  <a:srgbClr val="117A68"/>
                </a:solidFill>
                <a:latin typeface="微软雅黑" panose="020B0503020204020204" pitchFamily="34" charset="-122"/>
              </a:rPr>
              <a:t>项目具体实现</a:t>
            </a:r>
          </a:p>
        </p:txBody>
      </p:sp>
      <p:sp>
        <p:nvSpPr>
          <p:cNvPr id="27677" name="文本框 60"/>
          <p:cNvSpPr txBox="1">
            <a:spLocks noChangeArrowheads="1"/>
          </p:cNvSpPr>
          <p:nvPr/>
        </p:nvSpPr>
        <p:spPr bwMode="auto">
          <a:xfrm>
            <a:off x="261938" y="177800"/>
            <a:ext cx="627062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lang="en-US" altLang="zh-CN" sz="3600">
                <a:solidFill>
                  <a:schemeClr val="bg1"/>
                </a:solidFill>
                <a:latin typeface="Impact" panose="020B0806030902050204" pitchFamily="34" charset="0"/>
              </a:rPr>
              <a:t>3</a:t>
            </a:r>
            <a:endParaRPr lang="zh-CN" altLang="en-US" sz="36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083" y="0"/>
            <a:ext cx="3074593" cy="6818069"/>
          </a:xfrm>
          <a:prstGeom prst="rect">
            <a:avLst/>
          </a:prstGeom>
        </p:spPr>
      </p:pic>
      <p:sp>
        <p:nvSpPr>
          <p:cNvPr id="5" name="文本框 59"/>
          <p:cNvSpPr txBox="1">
            <a:spLocks noChangeArrowheads="1"/>
          </p:cNvSpPr>
          <p:nvPr/>
        </p:nvSpPr>
        <p:spPr bwMode="auto">
          <a:xfrm>
            <a:off x="889884" y="2820629"/>
            <a:ext cx="22574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项目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流程图</a:t>
            </a:r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4"/>
          <p:cNvGrpSpPr>
            <a:grpSpLocks noChangeAspect="1"/>
          </p:cNvGrpSpPr>
          <p:nvPr/>
        </p:nvGrpSpPr>
        <p:grpSpPr bwMode="auto">
          <a:xfrm>
            <a:off x="88900" y="1854423"/>
            <a:ext cx="3155950" cy="2946400"/>
            <a:chOff x="0" y="0"/>
            <a:chExt cx="6822015" cy="6383223"/>
          </a:xfrm>
        </p:grpSpPr>
        <p:pic>
          <p:nvPicPr>
            <p:cNvPr id="7" name="图片 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73" y="0"/>
              <a:ext cx="6818442" cy="6383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图片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6822015" cy="63830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7675" name="图片 3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32" t="9293" r="6709" b="5219"/>
          <a:stretch>
            <a:fillRect/>
          </a:stretch>
        </p:blipFill>
        <p:spPr bwMode="auto">
          <a:xfrm>
            <a:off x="261938" y="160338"/>
            <a:ext cx="725487" cy="665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76" name="文本框 59"/>
          <p:cNvSpPr txBox="1">
            <a:spLocks noChangeArrowheads="1"/>
          </p:cNvSpPr>
          <p:nvPr/>
        </p:nvSpPr>
        <p:spPr bwMode="auto">
          <a:xfrm>
            <a:off x="987425" y="266700"/>
            <a:ext cx="22574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lang="zh-CN" altLang="en-US" sz="2400" b="1" dirty="0">
                <a:solidFill>
                  <a:srgbClr val="117A68"/>
                </a:solidFill>
                <a:latin typeface="微软雅黑" panose="020B0503020204020204" pitchFamily="34" charset="-122"/>
              </a:rPr>
              <a:t>项目具体实现</a:t>
            </a:r>
          </a:p>
        </p:txBody>
      </p:sp>
      <p:sp>
        <p:nvSpPr>
          <p:cNvPr id="27677" name="文本框 60"/>
          <p:cNvSpPr txBox="1">
            <a:spLocks noChangeArrowheads="1"/>
          </p:cNvSpPr>
          <p:nvPr/>
        </p:nvSpPr>
        <p:spPr bwMode="auto">
          <a:xfrm>
            <a:off x="261938" y="177800"/>
            <a:ext cx="627062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lang="en-US" altLang="zh-CN" sz="3600">
                <a:solidFill>
                  <a:schemeClr val="bg1"/>
                </a:solidFill>
                <a:latin typeface="Impact" panose="020B0806030902050204" pitchFamily="34" charset="0"/>
              </a:rPr>
              <a:t>3</a:t>
            </a:r>
            <a:endParaRPr lang="zh-CN" altLang="en-US" sz="36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5" name="文本框 59"/>
          <p:cNvSpPr txBox="1">
            <a:spLocks noChangeArrowheads="1"/>
          </p:cNvSpPr>
          <p:nvPr/>
        </p:nvSpPr>
        <p:spPr bwMode="auto">
          <a:xfrm>
            <a:off x="538162" y="2814492"/>
            <a:ext cx="225742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项目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具体解决方案和核心技术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243196" y="825500"/>
            <a:ext cx="9153397" cy="380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</a:pPr>
            <a:r>
              <a:rPr lang="en-US" altLang="zh-CN" sz="1400" b="1" dirty="0"/>
              <a:t>1. </a:t>
            </a:r>
            <a:r>
              <a:rPr lang="zh-CN" altLang="en-US" sz="1400" b="1" dirty="0"/>
              <a:t>具体解决方案：</a:t>
            </a:r>
            <a:r>
              <a:rPr lang="zh-CN" altLang="zh-CN" sz="1400" b="1" dirty="0"/>
              <a:t> </a:t>
            </a:r>
            <a:endParaRPr lang="en-US" altLang="zh-CN" sz="1400" dirty="0"/>
          </a:p>
          <a:p>
            <a:pPr lvl="0">
              <a:lnSpc>
                <a:spcPct val="125000"/>
              </a:lnSpc>
            </a:pPr>
            <a:r>
              <a:rPr lang="zh-CN" altLang="en-US" sz="1400" dirty="0"/>
              <a:t>在</a:t>
            </a:r>
            <a:r>
              <a:rPr lang="en-US" altLang="zh-CN" sz="1400" dirty="0"/>
              <a:t>Linux</a:t>
            </a:r>
            <a:r>
              <a:rPr lang="zh-CN" altLang="en-US" sz="1400" dirty="0"/>
              <a:t>环境下、基于帧缓冲驱动的双人对战五子棋游戏，完整覆盖从界面显示到对局逻辑的全流程。</a:t>
            </a:r>
            <a:endParaRPr lang="en-US" altLang="zh-CN" sz="1400" dirty="0"/>
          </a:p>
          <a:p>
            <a:pPr lvl="0">
              <a:lnSpc>
                <a:spcPct val="125000"/>
              </a:lnSpc>
            </a:pPr>
            <a:endParaRPr lang="zh-CN" altLang="zh-CN" sz="1400" dirty="0"/>
          </a:p>
          <a:p>
            <a:pPr lvl="0">
              <a:lnSpc>
                <a:spcPct val="125000"/>
              </a:lnSpc>
              <a:spcAft>
                <a:spcPts val="500"/>
              </a:spcAft>
            </a:pPr>
            <a:r>
              <a:rPr lang="en-US" altLang="zh-CN" sz="1400" b="1" dirty="0"/>
              <a:t>2. </a:t>
            </a:r>
            <a:r>
              <a:rPr lang="zh-CN" altLang="en-US" sz="1400" b="1" dirty="0"/>
              <a:t>核心技术：</a:t>
            </a:r>
            <a:endParaRPr lang="en-US" altLang="zh-CN" sz="1400" dirty="0"/>
          </a:p>
          <a:p>
            <a:pPr lvl="0">
              <a:lnSpc>
                <a:spcPct val="125000"/>
              </a:lnSpc>
            </a:pPr>
            <a:r>
              <a:rPr lang="en-US" altLang="zh-CN" sz="1400" dirty="0"/>
              <a:t>(1)</a:t>
            </a:r>
            <a:r>
              <a:rPr lang="zh-CN" altLang="zh-CN" sz="1400" dirty="0"/>
              <a:t>核心技术 1 — Framebuffer 显示模块</a:t>
            </a:r>
            <a:endParaRPr lang="en-US" altLang="zh-CN" sz="1400" dirty="0"/>
          </a:p>
          <a:p>
            <a:pPr lvl="0"/>
            <a:r>
              <a:rPr lang="en-US" altLang="zh-CN" sz="1400" dirty="0"/>
              <a:t>    a.</a:t>
            </a:r>
            <a:r>
              <a:rPr lang="zh-CN" altLang="en-US" sz="1400" dirty="0"/>
              <a:t> </a:t>
            </a:r>
            <a:r>
              <a:rPr lang="zh-CN" altLang="zh-CN" sz="1400" dirty="0"/>
              <a:t>基础绘图</a:t>
            </a:r>
            <a:r>
              <a:rPr lang="zh-CN" altLang="en-US" sz="1400" dirty="0"/>
              <a:t>函数</a:t>
            </a:r>
            <a:r>
              <a:rPr lang="zh-CN" altLang="zh-CN" sz="1400" dirty="0"/>
              <a:t>封装 </a:t>
            </a:r>
          </a:p>
          <a:p>
            <a:pPr lvl="0"/>
            <a:r>
              <a:rPr lang="en-US" altLang="zh-CN" sz="1400" dirty="0"/>
              <a:t>	</a:t>
            </a:r>
            <a:r>
              <a:rPr lang="zh-CN" altLang="en-US" sz="1400" dirty="0"/>
              <a:t>通过</a:t>
            </a:r>
            <a:r>
              <a:rPr lang="zh-CN" altLang="zh-CN" sz="1400" dirty="0"/>
              <a:t>draw_point()像素点绘制，封装水平线、竖直线、矩形、实心圆、斜线、全屏清屏函数</a:t>
            </a:r>
            <a:r>
              <a:rPr lang="zh-CN" altLang="en-US" sz="1400" dirty="0"/>
              <a:t>。</a:t>
            </a:r>
            <a:endParaRPr lang="zh-CN" altLang="zh-CN" sz="1400" dirty="0"/>
          </a:p>
          <a:p>
            <a:pPr lvl="0"/>
            <a:r>
              <a:rPr lang="en-US" altLang="zh-CN" sz="1400" dirty="0"/>
              <a:t>    b. </a:t>
            </a:r>
            <a:r>
              <a:rPr lang="zh-CN" altLang="zh-CN" sz="1400" dirty="0"/>
              <a:t>BMP 图片解析绘制 </a:t>
            </a:r>
          </a:p>
          <a:p>
            <a:pPr lvl="0"/>
            <a:endParaRPr lang="en-US" altLang="zh-CN" sz="1400" dirty="0"/>
          </a:p>
          <a:p>
            <a:pPr lvl="0">
              <a:lnSpc>
                <a:spcPct val="125000"/>
              </a:lnSpc>
            </a:pPr>
            <a:r>
              <a:rPr lang="en-US" altLang="zh-CN" sz="1400" dirty="0"/>
              <a:t>(2)</a:t>
            </a:r>
            <a:r>
              <a:rPr lang="zh-CN" altLang="zh-CN" sz="1400" dirty="0"/>
              <a:t>核心技术 2 — 游戏逻辑模块</a:t>
            </a:r>
            <a:endParaRPr lang="en-US" altLang="zh-CN" sz="1400" dirty="0"/>
          </a:p>
          <a:p>
            <a:pPr lvl="0"/>
            <a:r>
              <a:rPr lang="en-US" altLang="zh-CN" sz="1400" dirty="0"/>
              <a:t>    a. </a:t>
            </a:r>
            <a:r>
              <a:rPr lang="zh-CN" altLang="zh-CN" sz="1400" dirty="0"/>
              <a:t>数据结构设计 </a:t>
            </a:r>
          </a:p>
          <a:p>
            <a:pPr lvl="0"/>
            <a:r>
              <a:rPr lang="en-US" altLang="zh-CN" sz="1400" dirty="0"/>
              <a:t>	</a:t>
            </a:r>
            <a:r>
              <a:rPr lang="zh-CN" altLang="zh-CN" sz="1400" dirty="0"/>
              <a:t>二维数组record[21][21]：记录每个棋盘交叉点状态（空 / 黑棋 / 白棋）</a:t>
            </a:r>
          </a:p>
          <a:p>
            <a:pPr lvl="0"/>
            <a:r>
              <a:rPr lang="en-US" altLang="zh-CN" sz="1400" dirty="0"/>
              <a:t>	</a:t>
            </a:r>
            <a:r>
              <a:rPr lang="zh-CN" altLang="zh-CN" sz="1400" dirty="0"/>
              <a:t>光标结构体：保存光标当前像素坐标</a:t>
            </a:r>
          </a:p>
          <a:p>
            <a:pPr lvl="0"/>
            <a:r>
              <a:rPr lang="en-US" altLang="zh-CN" sz="1400" dirty="0"/>
              <a:t>	</a:t>
            </a:r>
            <a:r>
              <a:rPr lang="zh-CN" altLang="zh-CN" sz="1400" dirty="0"/>
              <a:t>历史记录结构体：保存</a:t>
            </a:r>
            <a:r>
              <a:rPr lang="zh-CN" altLang="en-US" sz="1400" dirty="0"/>
              <a:t>向前</a:t>
            </a:r>
            <a:r>
              <a:rPr lang="zh-CN" altLang="zh-CN" sz="1400" dirty="0"/>
              <a:t>两步落子位置，支持悔棋回滚</a:t>
            </a:r>
            <a:endParaRPr lang="en-US" altLang="zh-CN" sz="1400" dirty="0"/>
          </a:p>
          <a:p>
            <a:pPr>
              <a:lnSpc>
                <a:spcPct val="125000"/>
              </a:lnSpc>
            </a:pPr>
            <a:endParaRPr lang="zh-CN" altLang="en-US" sz="14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6595" y="4433823"/>
            <a:ext cx="3907402" cy="176242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6496" y="4503358"/>
            <a:ext cx="2380384" cy="1692894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4"/>
          <p:cNvGrpSpPr>
            <a:grpSpLocks noChangeAspect="1"/>
          </p:cNvGrpSpPr>
          <p:nvPr/>
        </p:nvGrpSpPr>
        <p:grpSpPr bwMode="auto">
          <a:xfrm>
            <a:off x="88900" y="1854423"/>
            <a:ext cx="3155950" cy="2946400"/>
            <a:chOff x="0" y="0"/>
            <a:chExt cx="6822015" cy="6383223"/>
          </a:xfrm>
        </p:grpSpPr>
        <p:pic>
          <p:nvPicPr>
            <p:cNvPr id="7" name="图片 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73" y="0"/>
              <a:ext cx="6818442" cy="6383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图片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6822015" cy="63830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7675" name="图片 3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32" t="9293" r="6709" b="5219"/>
          <a:stretch>
            <a:fillRect/>
          </a:stretch>
        </p:blipFill>
        <p:spPr bwMode="auto">
          <a:xfrm>
            <a:off x="261938" y="160338"/>
            <a:ext cx="725487" cy="665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76" name="文本框 59"/>
          <p:cNvSpPr txBox="1">
            <a:spLocks noChangeArrowheads="1"/>
          </p:cNvSpPr>
          <p:nvPr/>
        </p:nvSpPr>
        <p:spPr bwMode="auto">
          <a:xfrm>
            <a:off x="987425" y="266700"/>
            <a:ext cx="22574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lang="zh-CN" altLang="en-US" sz="2400" b="1" dirty="0">
                <a:solidFill>
                  <a:srgbClr val="117A68"/>
                </a:solidFill>
                <a:latin typeface="微软雅黑" panose="020B0503020204020204" pitchFamily="34" charset="-122"/>
              </a:rPr>
              <a:t>项目具体实现</a:t>
            </a:r>
          </a:p>
        </p:txBody>
      </p:sp>
      <p:sp>
        <p:nvSpPr>
          <p:cNvPr id="27677" name="文本框 60"/>
          <p:cNvSpPr txBox="1">
            <a:spLocks noChangeArrowheads="1"/>
          </p:cNvSpPr>
          <p:nvPr/>
        </p:nvSpPr>
        <p:spPr bwMode="auto">
          <a:xfrm>
            <a:off x="261938" y="177800"/>
            <a:ext cx="627062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lang="en-US" altLang="zh-CN" sz="3600">
                <a:solidFill>
                  <a:schemeClr val="bg1"/>
                </a:solidFill>
                <a:latin typeface="Impact" panose="020B0806030902050204" pitchFamily="34" charset="0"/>
              </a:rPr>
              <a:t>3</a:t>
            </a:r>
            <a:endParaRPr lang="zh-CN" altLang="en-US" sz="36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5" name="文本框 59"/>
          <p:cNvSpPr txBox="1">
            <a:spLocks noChangeArrowheads="1"/>
          </p:cNvSpPr>
          <p:nvPr/>
        </p:nvSpPr>
        <p:spPr bwMode="auto">
          <a:xfrm>
            <a:off x="538162" y="2814492"/>
            <a:ext cx="225742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项目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具体解决方案和核心技术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243196" y="825500"/>
            <a:ext cx="9153397" cy="1501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</a:pPr>
            <a:r>
              <a:rPr lang="en-US" altLang="zh-CN" sz="1400" dirty="0"/>
              <a:t>    b. </a:t>
            </a:r>
            <a:r>
              <a:rPr lang="zh-CN" altLang="zh-CN" sz="1400" dirty="0"/>
              <a:t>坐标映射机制 </a:t>
            </a:r>
          </a:p>
          <a:p>
            <a:pPr lvl="0"/>
            <a:r>
              <a:rPr lang="en-US" altLang="zh-CN" sz="1400" dirty="0"/>
              <a:t>	</a:t>
            </a:r>
          </a:p>
          <a:p>
            <a:pPr lvl="0"/>
            <a:endParaRPr lang="en-US" altLang="zh-CN" sz="1400" dirty="0"/>
          </a:p>
          <a:p>
            <a:pPr lvl="0"/>
            <a:endParaRPr lang="en-US" altLang="zh-CN" sz="1400" dirty="0"/>
          </a:p>
          <a:p>
            <a:pPr lvl="0"/>
            <a:endParaRPr lang="zh-CN" altLang="zh-CN" sz="1400" dirty="0"/>
          </a:p>
          <a:p>
            <a:pPr lvl="0"/>
            <a:r>
              <a:rPr lang="en-US" altLang="zh-CN" sz="1400" dirty="0"/>
              <a:t>    </a:t>
            </a:r>
            <a:r>
              <a:rPr lang="en-US" altLang="zh-CN" sz="1400" dirty="0">
                <a:sym typeface="+mn-ea"/>
              </a:rPr>
              <a:t>c. </a:t>
            </a:r>
            <a:r>
              <a:rPr lang="zh-CN" altLang="en-US" sz="1400" dirty="0">
                <a:sym typeface="+mn-ea"/>
              </a:rPr>
              <a:t>落子算法</a:t>
            </a:r>
            <a:endParaRPr lang="zh-CN" altLang="en-US" sz="14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3355" y="607695"/>
            <a:ext cx="3874135" cy="84264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3930" y="2022475"/>
            <a:ext cx="5435600" cy="465709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4"/>
          <p:cNvGrpSpPr>
            <a:grpSpLocks noChangeAspect="1"/>
          </p:cNvGrpSpPr>
          <p:nvPr/>
        </p:nvGrpSpPr>
        <p:grpSpPr bwMode="auto">
          <a:xfrm>
            <a:off x="88900" y="1854423"/>
            <a:ext cx="3155950" cy="2946400"/>
            <a:chOff x="0" y="0"/>
            <a:chExt cx="6822015" cy="6383223"/>
          </a:xfrm>
        </p:grpSpPr>
        <p:pic>
          <p:nvPicPr>
            <p:cNvPr id="7" name="图片 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73" y="0"/>
              <a:ext cx="6818442" cy="6383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图片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6822015" cy="63830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7675" name="图片 3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32" t="9293" r="6709" b="5219"/>
          <a:stretch>
            <a:fillRect/>
          </a:stretch>
        </p:blipFill>
        <p:spPr bwMode="auto">
          <a:xfrm>
            <a:off x="261938" y="160338"/>
            <a:ext cx="725487" cy="665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76" name="文本框 59"/>
          <p:cNvSpPr txBox="1">
            <a:spLocks noChangeArrowheads="1"/>
          </p:cNvSpPr>
          <p:nvPr/>
        </p:nvSpPr>
        <p:spPr bwMode="auto">
          <a:xfrm>
            <a:off x="987425" y="266700"/>
            <a:ext cx="22574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lang="zh-CN" altLang="en-US" sz="2400" b="1" dirty="0">
                <a:solidFill>
                  <a:srgbClr val="117A68"/>
                </a:solidFill>
                <a:latin typeface="微软雅黑" panose="020B0503020204020204" pitchFamily="34" charset="-122"/>
              </a:rPr>
              <a:t>项目具体实现</a:t>
            </a:r>
          </a:p>
        </p:txBody>
      </p:sp>
      <p:sp>
        <p:nvSpPr>
          <p:cNvPr id="27677" name="文本框 60"/>
          <p:cNvSpPr txBox="1">
            <a:spLocks noChangeArrowheads="1"/>
          </p:cNvSpPr>
          <p:nvPr/>
        </p:nvSpPr>
        <p:spPr bwMode="auto">
          <a:xfrm>
            <a:off x="261938" y="177800"/>
            <a:ext cx="627062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lang="en-US" altLang="zh-CN" sz="3600">
                <a:solidFill>
                  <a:schemeClr val="bg1"/>
                </a:solidFill>
                <a:latin typeface="Impact" panose="020B0806030902050204" pitchFamily="34" charset="0"/>
              </a:rPr>
              <a:t>3</a:t>
            </a:r>
            <a:endParaRPr lang="zh-CN" altLang="en-US" sz="36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5" name="文本框 59"/>
          <p:cNvSpPr txBox="1">
            <a:spLocks noChangeArrowheads="1"/>
          </p:cNvSpPr>
          <p:nvPr/>
        </p:nvSpPr>
        <p:spPr bwMode="auto">
          <a:xfrm>
            <a:off x="538162" y="2814492"/>
            <a:ext cx="225742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项目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具体解决方案和核心技术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243196" y="825500"/>
            <a:ext cx="9153397" cy="1491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1400" dirty="0"/>
              <a:t>    d. </a:t>
            </a:r>
            <a:r>
              <a:rPr lang="zh-CN" altLang="zh-CN" sz="1400" dirty="0"/>
              <a:t>胜负判定算法 </a:t>
            </a:r>
          </a:p>
          <a:p>
            <a:pPr lvl="0"/>
            <a:r>
              <a:rPr lang="en-US" altLang="zh-CN" sz="1400" dirty="0"/>
              <a:t>	</a:t>
            </a:r>
            <a:r>
              <a:rPr lang="zh-CN" altLang="zh-CN" sz="1400" dirty="0"/>
              <a:t>以最后落子点为中心，向横向、纵向、左斜、右斜 4 个方向双向延伸</a:t>
            </a:r>
          </a:p>
          <a:p>
            <a:pPr lvl="0"/>
            <a:r>
              <a:rPr lang="en-US" altLang="zh-CN" sz="1400" dirty="0"/>
              <a:t>	</a:t>
            </a:r>
            <a:r>
              <a:rPr lang="zh-CN" altLang="zh-CN" sz="1400" dirty="0"/>
              <a:t>每个方向独立统计连续同色棋子数量，任意方向达到 5 子即判定获胜</a:t>
            </a:r>
          </a:p>
          <a:p>
            <a:pPr lvl="0"/>
            <a:r>
              <a:rPr lang="en-US" altLang="zh-CN" sz="1400" dirty="0"/>
              <a:t>	</a:t>
            </a:r>
            <a:r>
              <a:rPr lang="zh-CN" altLang="zh-CN" sz="1400" dirty="0"/>
              <a:t>仅检测落子点周边，无需遍历整个棋盘</a:t>
            </a:r>
            <a:r>
              <a:rPr lang="zh-CN" altLang="en-US" sz="1400" dirty="0"/>
              <a:t>。</a:t>
            </a:r>
            <a:endParaRPr lang="zh-CN" altLang="zh-CN" sz="1400" dirty="0"/>
          </a:p>
          <a:p>
            <a:pPr lvl="0">
              <a:lnSpc>
                <a:spcPct val="125000"/>
              </a:lnSpc>
            </a:pPr>
            <a:endParaRPr lang="en-US" altLang="zh-CN" sz="1400" dirty="0"/>
          </a:p>
          <a:p>
            <a:pPr>
              <a:lnSpc>
                <a:spcPct val="125000"/>
              </a:lnSpc>
            </a:pPr>
            <a:endParaRPr lang="zh-CN" altLang="en-US" sz="1400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3575" y="1792605"/>
            <a:ext cx="6100445" cy="39046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8930" y="4980940"/>
            <a:ext cx="4196715" cy="183388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文本框 13"/>
          <p:cNvSpPr txBox="1">
            <a:spLocks noChangeArrowheads="1"/>
          </p:cNvSpPr>
          <p:nvPr/>
        </p:nvSpPr>
        <p:spPr bwMode="auto">
          <a:xfrm>
            <a:off x="2967038" y="4416425"/>
            <a:ext cx="60642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lang="zh-CN" altLang="en-US" sz="4800" b="1" dirty="0">
                <a:solidFill>
                  <a:srgbClr val="117A68"/>
                </a:solidFill>
                <a:latin typeface="微软雅黑" panose="020B0503020204020204" pitchFamily="34" charset="-122"/>
              </a:rPr>
              <a:t>项目总结</a:t>
            </a:r>
          </a:p>
        </p:txBody>
      </p:sp>
      <p:grpSp>
        <p:nvGrpSpPr>
          <p:cNvPr id="36867" name="组合 4"/>
          <p:cNvGrpSpPr>
            <a:grpSpLocks noChangeAspect="1"/>
          </p:cNvGrpSpPr>
          <p:nvPr/>
        </p:nvGrpSpPr>
        <p:grpSpPr bwMode="auto">
          <a:xfrm>
            <a:off x="4357688" y="1117600"/>
            <a:ext cx="3155950" cy="2946400"/>
            <a:chOff x="0" y="0"/>
            <a:chExt cx="6822015" cy="6383223"/>
          </a:xfrm>
        </p:grpSpPr>
        <p:pic>
          <p:nvPicPr>
            <p:cNvPr id="36870" name="图片 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73" y="0"/>
              <a:ext cx="6818442" cy="6383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871" name="图片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6822015" cy="63830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6868" name="文本框 2"/>
          <p:cNvSpPr txBox="1">
            <a:spLocks noChangeArrowheads="1"/>
          </p:cNvSpPr>
          <p:nvPr/>
        </p:nvSpPr>
        <p:spPr bwMode="auto">
          <a:xfrm>
            <a:off x="5130800" y="1338263"/>
            <a:ext cx="1609725" cy="255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lang="en-US" altLang="zh-CN" sz="16600">
                <a:solidFill>
                  <a:schemeClr val="bg1"/>
                </a:solidFill>
                <a:latin typeface="Impact" panose="020B0806030902050204" pitchFamily="34" charset="0"/>
              </a:rPr>
              <a:t>4</a:t>
            </a:r>
            <a:endParaRPr lang="zh-CN" altLang="en-US" sz="166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26" name="图片 7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32" t="9293" r="6709" b="5219"/>
          <a:stretch>
            <a:fillRect/>
          </a:stretch>
        </p:blipFill>
        <p:spPr bwMode="auto">
          <a:xfrm>
            <a:off x="261938" y="160338"/>
            <a:ext cx="725487" cy="665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927" name="文本框 88"/>
          <p:cNvSpPr txBox="1">
            <a:spLocks noChangeArrowheads="1"/>
          </p:cNvSpPr>
          <p:nvPr/>
        </p:nvSpPr>
        <p:spPr bwMode="auto">
          <a:xfrm>
            <a:off x="987425" y="266700"/>
            <a:ext cx="22574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117A68"/>
                </a:solidFill>
                <a:latin typeface="微软雅黑" panose="020B0503020204020204" pitchFamily="34" charset="-122"/>
              </a:rPr>
              <a:t>项目总结</a:t>
            </a:r>
          </a:p>
        </p:txBody>
      </p:sp>
      <p:sp>
        <p:nvSpPr>
          <p:cNvPr id="37928" name="文本框 89"/>
          <p:cNvSpPr txBox="1">
            <a:spLocks noChangeArrowheads="1"/>
          </p:cNvSpPr>
          <p:nvPr/>
        </p:nvSpPr>
        <p:spPr bwMode="auto">
          <a:xfrm>
            <a:off x="261938" y="177800"/>
            <a:ext cx="627062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lang="en-US" altLang="zh-CN" sz="3600">
                <a:solidFill>
                  <a:schemeClr val="bg1"/>
                </a:solidFill>
                <a:latin typeface="Impact" panose="020B0806030902050204" pitchFamily="34" charset="0"/>
              </a:rPr>
              <a:t>4</a:t>
            </a:r>
            <a:endParaRPr lang="zh-CN" altLang="en-US" sz="36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grpSp>
        <p:nvGrpSpPr>
          <p:cNvPr id="2" name="组合 4"/>
          <p:cNvGrpSpPr>
            <a:grpSpLocks noChangeAspect="1"/>
          </p:cNvGrpSpPr>
          <p:nvPr/>
        </p:nvGrpSpPr>
        <p:grpSpPr bwMode="auto">
          <a:xfrm>
            <a:off x="88900" y="1854423"/>
            <a:ext cx="3155950" cy="2946400"/>
            <a:chOff x="0" y="0"/>
            <a:chExt cx="6822015" cy="6383223"/>
          </a:xfrm>
        </p:grpSpPr>
        <p:pic>
          <p:nvPicPr>
            <p:cNvPr id="3" name="图片 1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73" y="0"/>
              <a:ext cx="6818442" cy="6383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" name="图片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6822015" cy="63830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" name="文本框 59"/>
          <p:cNvSpPr txBox="1">
            <a:spLocks noChangeArrowheads="1"/>
          </p:cNvSpPr>
          <p:nvPr/>
        </p:nvSpPr>
        <p:spPr bwMode="auto">
          <a:xfrm>
            <a:off x="538162" y="3096753"/>
            <a:ext cx="22574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项目收获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98429" y="1113935"/>
            <a:ext cx="8742194" cy="4204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25000"/>
              </a:lnSpc>
              <a:buAutoNum type="arabicPeriod"/>
            </a:pPr>
            <a:r>
              <a:rPr lang="zh-CN" altLang="en-US" sz="2400" dirty="0"/>
              <a:t>初步了解了</a:t>
            </a:r>
            <a:r>
              <a:rPr lang="zh-CN" altLang="zh-CN" sz="2400" dirty="0"/>
              <a:t>Linux Framebuffer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pPr lvl="0">
              <a:lnSpc>
                <a:spcPct val="125000"/>
              </a:lnSpc>
            </a:pPr>
            <a:endParaRPr lang="zh-CN" altLang="zh-CN" sz="2400" dirty="0"/>
          </a:p>
          <a:p>
            <a:pPr lvl="0">
              <a:lnSpc>
                <a:spcPct val="125000"/>
              </a:lnSpc>
            </a:pPr>
            <a:r>
              <a:rPr lang="en-US" altLang="zh-CN" sz="2400" dirty="0"/>
              <a:t>2. </a:t>
            </a:r>
            <a:r>
              <a:rPr lang="zh-CN" altLang="en-US" sz="2400" dirty="0"/>
              <a:t>在绘制元素点的基础上</a:t>
            </a:r>
            <a:r>
              <a:rPr lang="zh-CN" altLang="zh-CN" sz="2400" dirty="0"/>
              <a:t>掌握了基础图形绘制等底层图形编程技能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pPr lvl="0">
              <a:lnSpc>
                <a:spcPct val="125000"/>
              </a:lnSpc>
            </a:pPr>
            <a:endParaRPr lang="zh-CN" altLang="zh-CN" sz="2400" dirty="0"/>
          </a:p>
          <a:p>
            <a:pPr lvl="0">
              <a:lnSpc>
                <a:spcPct val="125000"/>
              </a:lnSpc>
            </a:pPr>
            <a:r>
              <a:rPr lang="en-US" altLang="zh-CN" sz="2400" dirty="0"/>
              <a:t>3. </a:t>
            </a:r>
            <a:r>
              <a:rPr lang="zh-CN" altLang="zh-CN" sz="2400" dirty="0"/>
              <a:t>提升了模块化代码设计能力，</a:t>
            </a:r>
            <a:r>
              <a:rPr lang="zh-CN" altLang="en-US" sz="2400" dirty="0"/>
              <a:t>巩固</a:t>
            </a:r>
            <a:r>
              <a:rPr lang="zh-CN" altLang="zh-CN" sz="2400" dirty="0"/>
              <a:t>了分层封装、数据结构与业务逻辑分离的开发思路</a:t>
            </a:r>
            <a:endParaRPr lang="en-US" altLang="zh-CN" sz="2400" dirty="0"/>
          </a:p>
          <a:p>
            <a:pPr lvl="0">
              <a:lnSpc>
                <a:spcPct val="125000"/>
              </a:lnSpc>
            </a:pPr>
            <a:endParaRPr lang="zh-CN" altLang="zh-CN" sz="2400" dirty="0"/>
          </a:p>
          <a:p>
            <a:pPr lvl="0">
              <a:lnSpc>
                <a:spcPct val="125000"/>
              </a:lnSpc>
            </a:pPr>
            <a:r>
              <a:rPr lang="en-US" altLang="zh-CN" sz="2400" dirty="0"/>
              <a:t>4. </a:t>
            </a:r>
            <a:r>
              <a:rPr lang="zh-CN" altLang="zh-CN" sz="2400" dirty="0"/>
              <a:t>积累了嵌入式环境下轻量级图形界面的开发与调试经验</a:t>
            </a: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稻壳儿小白白(http://dwz.cn/Wu2UP)"/>
          <p:cNvSpPr>
            <a:spLocks noChangeArrowheads="1"/>
          </p:cNvSpPr>
          <p:nvPr/>
        </p:nvSpPr>
        <p:spPr bwMode="auto">
          <a:xfrm rot="-848703">
            <a:off x="4305301" y="2060575"/>
            <a:ext cx="1589087" cy="3178175"/>
          </a:xfrm>
          <a:prstGeom prst="moon">
            <a:avLst>
              <a:gd name="adj" fmla="val 15190"/>
            </a:avLst>
          </a:prstGeom>
          <a:solidFill>
            <a:srgbClr val="32BB99"/>
          </a:solidFill>
          <a:ln w="3175">
            <a:solidFill>
              <a:srgbClr val="F8F8F8"/>
            </a:solidFill>
            <a:miter lim="800000"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39939" name="稻壳儿小白白(http://dwz.cn/Wu2UP)"/>
          <p:cNvSpPr>
            <a:spLocks noChangeArrowheads="1"/>
          </p:cNvSpPr>
          <p:nvPr/>
        </p:nvSpPr>
        <p:spPr bwMode="auto">
          <a:xfrm rot="4551297">
            <a:off x="5118101" y="1025525"/>
            <a:ext cx="1589087" cy="3176587"/>
          </a:xfrm>
          <a:prstGeom prst="moon">
            <a:avLst>
              <a:gd name="adj" fmla="val 15190"/>
            </a:avLst>
          </a:prstGeom>
          <a:solidFill>
            <a:srgbClr val="117A68"/>
          </a:solidFill>
          <a:ln w="3175">
            <a:solidFill>
              <a:srgbClr val="F8F8F8"/>
            </a:solidFill>
            <a:miter lim="800000"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39940" name="稻壳儿小白白(http://dwz.cn/Wu2UP)"/>
          <p:cNvSpPr>
            <a:spLocks noChangeArrowheads="1"/>
          </p:cNvSpPr>
          <p:nvPr/>
        </p:nvSpPr>
        <p:spPr bwMode="auto">
          <a:xfrm rot="9951297">
            <a:off x="6154738" y="1839912"/>
            <a:ext cx="1589088" cy="3178175"/>
          </a:xfrm>
          <a:prstGeom prst="moon">
            <a:avLst>
              <a:gd name="adj" fmla="val 15190"/>
            </a:avLst>
          </a:prstGeom>
          <a:solidFill>
            <a:srgbClr val="32BB99"/>
          </a:solidFill>
          <a:ln w="3175">
            <a:solidFill>
              <a:srgbClr val="F8F8F8"/>
            </a:solidFill>
            <a:miter lim="800000"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39941" name="稻壳儿小白白(http://dwz.cn/Wu2UP)"/>
          <p:cNvSpPr>
            <a:spLocks noChangeArrowheads="1"/>
          </p:cNvSpPr>
          <p:nvPr/>
        </p:nvSpPr>
        <p:spPr bwMode="auto">
          <a:xfrm rot="-6248703">
            <a:off x="5354638" y="2863850"/>
            <a:ext cx="1589087" cy="3176588"/>
          </a:xfrm>
          <a:prstGeom prst="moon">
            <a:avLst>
              <a:gd name="adj" fmla="val 15190"/>
            </a:avLst>
          </a:prstGeom>
          <a:solidFill>
            <a:srgbClr val="117A68"/>
          </a:solidFill>
          <a:ln w="3175">
            <a:solidFill>
              <a:srgbClr val="F8F8F8"/>
            </a:solidFill>
            <a:miter lim="800000"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39942" name="稻壳儿小白白(http://dwz.cn/Wu2UP)"/>
          <p:cNvSpPr>
            <a:spLocks noChangeArrowheads="1"/>
          </p:cNvSpPr>
          <p:nvPr/>
        </p:nvSpPr>
        <p:spPr bwMode="auto">
          <a:xfrm flipH="1">
            <a:off x="4801440" y="3051749"/>
            <a:ext cx="248332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lang="zh-CN" altLang="en-US" sz="2400" b="1" dirty="0">
                <a:solidFill>
                  <a:srgbClr val="445469"/>
                </a:solidFill>
                <a:sym typeface="Arial" panose="020B0604020202020204" pitchFamily="34" charset="0"/>
              </a:rPr>
              <a:t>项目中遇到的问题及解决办法</a:t>
            </a:r>
          </a:p>
        </p:txBody>
      </p:sp>
      <p:sp>
        <p:nvSpPr>
          <p:cNvPr id="39943" name="稻壳儿小白白(http://dwz.cn/Wu2UP)"/>
          <p:cNvSpPr>
            <a:spLocks noChangeShapeType="1"/>
          </p:cNvSpPr>
          <p:nvPr/>
        </p:nvSpPr>
        <p:spPr bwMode="auto">
          <a:xfrm flipH="1">
            <a:off x="3340540" y="3655496"/>
            <a:ext cx="1049337" cy="0"/>
          </a:xfrm>
          <a:prstGeom prst="line">
            <a:avLst/>
          </a:prstGeom>
          <a:noFill/>
          <a:ln w="12700">
            <a:solidFill>
              <a:srgbClr val="ADBACA"/>
            </a:solidFill>
            <a:prstDash val="sysDot"/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4" name="稻壳儿小白白(http://dwz.cn/Wu2UP)"/>
          <p:cNvSpPr>
            <a:spLocks noChangeShapeType="1"/>
          </p:cNvSpPr>
          <p:nvPr/>
        </p:nvSpPr>
        <p:spPr bwMode="auto">
          <a:xfrm flipH="1">
            <a:off x="7140640" y="4776638"/>
            <a:ext cx="1033462" cy="0"/>
          </a:xfrm>
          <a:prstGeom prst="line">
            <a:avLst/>
          </a:prstGeom>
          <a:noFill/>
          <a:ln w="12700">
            <a:solidFill>
              <a:srgbClr val="ADBACA"/>
            </a:solidFill>
            <a:prstDash val="sysDot"/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5" name="稻壳儿小白白(http://dwz.cn/Wu2UP)"/>
          <p:cNvSpPr txBox="1">
            <a:spLocks noChangeArrowheads="1"/>
          </p:cNvSpPr>
          <p:nvPr/>
        </p:nvSpPr>
        <p:spPr bwMode="auto">
          <a:xfrm>
            <a:off x="1049777" y="3293547"/>
            <a:ext cx="217011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>
              <a:spcBef>
                <a:spcPct val="20000"/>
              </a:spcBef>
            </a:pPr>
            <a:r>
              <a:rPr lang="zh-CN" altLang="en-US" sz="1600" b="1" dirty="0">
                <a:solidFill>
                  <a:srgbClr val="445469"/>
                </a:solidFill>
                <a:sym typeface="Arial" panose="020B0604020202020204" pitchFamily="34" charset="0"/>
              </a:rPr>
              <a:t>悔棋功能状态回滚异常</a:t>
            </a:r>
            <a:endParaRPr lang="en-US" altLang="zh-CN" sz="1600" b="1" dirty="0">
              <a:solidFill>
                <a:srgbClr val="445469"/>
              </a:solidFill>
              <a:sym typeface="Arial" panose="020B0604020202020204" pitchFamily="34" charset="0"/>
            </a:endParaRPr>
          </a:p>
        </p:txBody>
      </p:sp>
      <p:sp>
        <p:nvSpPr>
          <p:cNvPr id="39946" name="稻壳儿小白白(http://dwz.cn/Wu2UP)"/>
          <p:cNvSpPr txBox="1">
            <a:spLocks noChangeArrowheads="1"/>
          </p:cNvSpPr>
          <p:nvPr/>
        </p:nvSpPr>
        <p:spPr bwMode="auto">
          <a:xfrm>
            <a:off x="921190" y="3622159"/>
            <a:ext cx="2201862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>
              <a:spcBef>
                <a:spcPct val="20000"/>
              </a:spcBef>
            </a:pPr>
            <a:r>
              <a:rPr lang="zh-CN" altLang="en-US" sz="1200" dirty="0">
                <a:solidFill>
                  <a:srgbClr val="445469"/>
                </a:solidFill>
                <a:sym typeface="Arial" panose="020B0604020202020204" pitchFamily="34" charset="0"/>
              </a:rPr>
              <a:t>增加二级历史记录结构体，保存最近两步的落子位置与棋子类型，实现状态完整回退</a:t>
            </a:r>
            <a:endParaRPr lang="en-US" altLang="zh-CN" sz="1200" dirty="0">
              <a:solidFill>
                <a:srgbClr val="445469"/>
              </a:solidFill>
              <a:sym typeface="Arial" panose="020B0604020202020204" pitchFamily="34" charset="0"/>
            </a:endParaRPr>
          </a:p>
        </p:txBody>
      </p:sp>
      <p:sp>
        <p:nvSpPr>
          <p:cNvPr id="39947" name="稻壳儿小白白(http://dwz.cn/Wu2UP)"/>
          <p:cNvSpPr txBox="1">
            <a:spLocks noChangeArrowheads="1"/>
          </p:cNvSpPr>
          <p:nvPr/>
        </p:nvSpPr>
        <p:spPr bwMode="auto">
          <a:xfrm>
            <a:off x="7835900" y="1698625"/>
            <a:ext cx="288607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1600" b="1" dirty="0">
                <a:solidFill>
                  <a:srgbClr val="445469"/>
                </a:solidFill>
                <a:sym typeface="Arial" panose="020B0604020202020204" pitchFamily="34" charset="0"/>
              </a:rPr>
              <a:t>在边界的胜负判定错误问题</a:t>
            </a:r>
            <a:endParaRPr lang="en-US" altLang="zh-CN" sz="1600" b="1" dirty="0">
              <a:solidFill>
                <a:srgbClr val="445469"/>
              </a:solidFill>
              <a:sym typeface="Arial" panose="020B0604020202020204" pitchFamily="34" charset="0"/>
            </a:endParaRPr>
          </a:p>
        </p:txBody>
      </p:sp>
      <p:sp>
        <p:nvSpPr>
          <p:cNvPr id="39948" name="稻壳儿小白白(http://dwz.cn/Wu2UP)"/>
          <p:cNvSpPr txBox="1">
            <a:spLocks noChangeArrowheads="1"/>
          </p:cNvSpPr>
          <p:nvPr/>
        </p:nvSpPr>
        <p:spPr bwMode="auto">
          <a:xfrm>
            <a:off x="7835901" y="1981200"/>
            <a:ext cx="23844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1200" dirty="0">
                <a:solidFill>
                  <a:srgbClr val="445469"/>
                </a:solidFill>
                <a:sym typeface="Arial" panose="020B0604020202020204" pitchFamily="34" charset="0"/>
              </a:rPr>
              <a:t>对判断数组递加的下标进行边界判定。</a:t>
            </a:r>
            <a:endParaRPr lang="en-US" altLang="zh-CN" sz="1200" dirty="0">
              <a:solidFill>
                <a:srgbClr val="445469"/>
              </a:solidFill>
              <a:sym typeface="Arial" panose="020B0604020202020204" pitchFamily="34" charset="0"/>
            </a:endParaRPr>
          </a:p>
        </p:txBody>
      </p:sp>
      <p:sp>
        <p:nvSpPr>
          <p:cNvPr id="39949" name="稻壳儿小白白(http://dwz.cn/Wu2UP)"/>
          <p:cNvSpPr txBox="1">
            <a:spLocks noChangeArrowheads="1"/>
          </p:cNvSpPr>
          <p:nvPr/>
        </p:nvSpPr>
        <p:spPr bwMode="auto">
          <a:xfrm>
            <a:off x="8059792" y="4461163"/>
            <a:ext cx="312261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>
              <a:spcBef>
                <a:spcPct val="20000"/>
              </a:spcBef>
            </a:pPr>
            <a:r>
              <a:rPr lang="zh-CN" altLang="en-US" sz="1600" b="1" dirty="0">
                <a:solidFill>
                  <a:srgbClr val="445469"/>
                </a:solidFill>
                <a:sym typeface="Arial" panose="020B0604020202020204" pitchFamily="34" charset="0"/>
              </a:rPr>
              <a:t>在第一次移动光标程序直接终止</a:t>
            </a:r>
            <a:endParaRPr lang="en-US" altLang="zh-CN" sz="1600" b="1" dirty="0">
              <a:solidFill>
                <a:srgbClr val="445469"/>
              </a:solidFill>
              <a:sym typeface="Arial" panose="020B0604020202020204" pitchFamily="34" charset="0"/>
            </a:endParaRPr>
          </a:p>
        </p:txBody>
      </p:sp>
      <p:sp>
        <p:nvSpPr>
          <p:cNvPr id="39950" name="稻壳儿小白白(http://dwz.cn/Wu2UP)"/>
          <p:cNvSpPr txBox="1">
            <a:spLocks noChangeArrowheads="1"/>
          </p:cNvSpPr>
          <p:nvPr/>
        </p:nvSpPr>
        <p:spPr bwMode="auto">
          <a:xfrm>
            <a:off x="8352009" y="4791075"/>
            <a:ext cx="24399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1200" dirty="0">
                <a:solidFill>
                  <a:srgbClr val="445469"/>
                </a:solidFill>
                <a:sym typeface="Arial" panose="020B0604020202020204" pitchFamily="34" charset="0"/>
              </a:rPr>
              <a:t>通过在伪终端打印一个大圆，定位程序结束位置，从而进行代码修改</a:t>
            </a:r>
            <a:endParaRPr lang="en-US" altLang="zh-CN" sz="1200" dirty="0">
              <a:solidFill>
                <a:srgbClr val="445469"/>
              </a:solidFill>
              <a:sym typeface="Arial" panose="020B0604020202020204" pitchFamily="34" charset="0"/>
            </a:endParaRPr>
          </a:p>
        </p:txBody>
      </p:sp>
      <p:sp>
        <p:nvSpPr>
          <p:cNvPr id="39953" name="稻壳儿小白白(http://dwz.cn/Wu2UP)"/>
          <p:cNvSpPr>
            <a:spLocks noChangeShapeType="1"/>
          </p:cNvSpPr>
          <p:nvPr/>
        </p:nvSpPr>
        <p:spPr bwMode="auto">
          <a:xfrm flipH="1">
            <a:off x="6597651" y="1944687"/>
            <a:ext cx="1049337" cy="0"/>
          </a:xfrm>
          <a:prstGeom prst="line">
            <a:avLst/>
          </a:prstGeom>
          <a:noFill/>
          <a:ln w="12700">
            <a:solidFill>
              <a:srgbClr val="ADBACA"/>
            </a:solidFill>
            <a:prstDash val="sysDot"/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9955" name="图片 3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32" t="9293" r="6709" b="5219"/>
          <a:stretch>
            <a:fillRect/>
          </a:stretch>
        </p:blipFill>
        <p:spPr bwMode="auto">
          <a:xfrm>
            <a:off x="261938" y="160338"/>
            <a:ext cx="725487" cy="665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56" name="文本框 36"/>
          <p:cNvSpPr txBox="1">
            <a:spLocks noChangeArrowheads="1"/>
          </p:cNvSpPr>
          <p:nvPr/>
        </p:nvSpPr>
        <p:spPr bwMode="auto">
          <a:xfrm>
            <a:off x="987425" y="266700"/>
            <a:ext cx="22574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117A68"/>
                </a:solidFill>
                <a:latin typeface="微软雅黑" panose="020B0503020204020204" pitchFamily="34" charset="-122"/>
              </a:rPr>
              <a:t>项目总结</a:t>
            </a:r>
          </a:p>
        </p:txBody>
      </p:sp>
      <p:sp>
        <p:nvSpPr>
          <p:cNvPr id="39957" name="文本框 37"/>
          <p:cNvSpPr txBox="1">
            <a:spLocks noChangeArrowheads="1"/>
          </p:cNvSpPr>
          <p:nvPr/>
        </p:nvSpPr>
        <p:spPr bwMode="auto">
          <a:xfrm>
            <a:off x="261938" y="177800"/>
            <a:ext cx="627062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lang="en-US" altLang="zh-CN" sz="3600">
                <a:solidFill>
                  <a:schemeClr val="bg1"/>
                </a:solidFill>
                <a:latin typeface="Impact" panose="020B0806030902050204" pitchFamily="34" charset="0"/>
              </a:rPr>
              <a:t>4</a:t>
            </a:r>
            <a:endParaRPr lang="zh-CN" altLang="en-US" sz="36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03" name="稻壳儿小白白(http://dwz.cn/Wu2UP)"/>
          <p:cNvSpPr>
            <a:spLocks noChangeArrowheads="1"/>
          </p:cNvSpPr>
          <p:nvPr/>
        </p:nvSpPr>
        <p:spPr bwMode="auto">
          <a:xfrm>
            <a:off x="3990528" y="1563962"/>
            <a:ext cx="638175" cy="638175"/>
          </a:xfrm>
          <a:prstGeom prst="ellipse">
            <a:avLst/>
          </a:prstGeom>
          <a:solidFill>
            <a:srgbClr val="117A6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/>
            <a:endParaRPr lang="en-US" altLang="zh-CN" sz="240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pic>
        <p:nvPicPr>
          <p:cNvPr id="42004" name="稻壳儿小白白(http://dwz.cn/Wu2UP)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6891" y="1668737"/>
            <a:ext cx="403225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005" name="稻壳儿小白白(http://dwz.cn/Wu2UP)"/>
          <p:cNvSpPr>
            <a:spLocks noChangeArrowheads="1"/>
          </p:cNvSpPr>
          <p:nvPr/>
        </p:nvSpPr>
        <p:spPr bwMode="auto">
          <a:xfrm>
            <a:off x="3992116" y="3166269"/>
            <a:ext cx="638175" cy="638175"/>
          </a:xfrm>
          <a:prstGeom prst="ellipse">
            <a:avLst/>
          </a:prstGeom>
          <a:solidFill>
            <a:srgbClr val="117A6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/>
            <a:endParaRPr lang="en-US" altLang="zh-CN" sz="240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42006" name="稻壳儿小白白(http://dwz.cn/Wu2UP)"/>
          <p:cNvSpPr>
            <a:spLocks noEditPoints="1"/>
          </p:cNvSpPr>
          <p:nvPr/>
        </p:nvSpPr>
        <p:spPr bwMode="auto">
          <a:xfrm>
            <a:off x="4096891" y="3275806"/>
            <a:ext cx="454025" cy="376238"/>
          </a:xfrm>
          <a:custGeom>
            <a:avLst/>
            <a:gdLst>
              <a:gd name="T0" fmla="*/ 650682686 w 287"/>
              <a:gd name="T1" fmla="*/ 196572449 h 237"/>
              <a:gd name="T2" fmla="*/ 610639895 w 287"/>
              <a:gd name="T3" fmla="*/ 236895002 h 237"/>
              <a:gd name="T4" fmla="*/ 650682686 w 287"/>
              <a:gd name="T5" fmla="*/ 279738509 h 237"/>
              <a:gd name="T6" fmla="*/ 693226568 w 287"/>
              <a:gd name="T7" fmla="*/ 236895002 h 237"/>
              <a:gd name="T8" fmla="*/ 650682686 w 287"/>
              <a:gd name="T9" fmla="*/ 196572449 h 237"/>
              <a:gd name="T10" fmla="*/ 67570627 w 287"/>
              <a:gd name="T11" fmla="*/ 196572449 h 237"/>
              <a:gd name="T12" fmla="*/ 27529418 w 287"/>
              <a:gd name="T13" fmla="*/ 236895002 h 237"/>
              <a:gd name="T14" fmla="*/ 67570627 w 287"/>
              <a:gd name="T15" fmla="*/ 279738509 h 237"/>
              <a:gd name="T16" fmla="*/ 107613417 w 287"/>
              <a:gd name="T17" fmla="*/ 236895002 h 237"/>
              <a:gd name="T18" fmla="*/ 67570627 w 287"/>
              <a:gd name="T19" fmla="*/ 196572449 h 237"/>
              <a:gd name="T20" fmla="*/ 530555897 w 287"/>
              <a:gd name="T21" fmla="*/ 123488614 h 237"/>
              <a:gd name="T22" fmla="*/ 470493294 w 287"/>
              <a:gd name="T23" fmla="*/ 183972444 h 237"/>
              <a:gd name="T24" fmla="*/ 530555897 w 287"/>
              <a:gd name="T25" fmla="*/ 244456275 h 237"/>
              <a:gd name="T26" fmla="*/ 590620082 w 287"/>
              <a:gd name="T27" fmla="*/ 183972444 h 237"/>
              <a:gd name="T28" fmla="*/ 530555897 w 287"/>
              <a:gd name="T29" fmla="*/ 123488614 h 237"/>
              <a:gd name="T30" fmla="*/ 718253312 w 287"/>
              <a:gd name="T31" fmla="*/ 493951281 h 237"/>
              <a:gd name="T32" fmla="*/ 648180011 w 287"/>
              <a:gd name="T33" fmla="*/ 493951281 h 237"/>
              <a:gd name="T34" fmla="*/ 648180011 w 287"/>
              <a:gd name="T35" fmla="*/ 365423936 h 237"/>
              <a:gd name="T36" fmla="*/ 633163965 w 287"/>
              <a:gd name="T37" fmla="*/ 304940105 h 237"/>
              <a:gd name="T38" fmla="*/ 650682686 w 287"/>
              <a:gd name="T39" fmla="*/ 302419152 h 237"/>
              <a:gd name="T40" fmla="*/ 718253312 w 287"/>
              <a:gd name="T41" fmla="*/ 370464255 h 237"/>
              <a:gd name="T42" fmla="*/ 718253312 w 287"/>
              <a:gd name="T43" fmla="*/ 493951281 h 237"/>
              <a:gd name="T44" fmla="*/ 187697415 w 287"/>
              <a:gd name="T45" fmla="*/ 123488614 h 237"/>
              <a:gd name="T46" fmla="*/ 127633230 w 287"/>
              <a:gd name="T47" fmla="*/ 183972444 h 237"/>
              <a:gd name="T48" fmla="*/ 187697415 w 287"/>
              <a:gd name="T49" fmla="*/ 244456275 h 237"/>
              <a:gd name="T50" fmla="*/ 247760019 w 287"/>
              <a:gd name="T51" fmla="*/ 183972444 h 237"/>
              <a:gd name="T52" fmla="*/ 187697415 w 287"/>
              <a:gd name="T53" fmla="*/ 123488614 h 237"/>
              <a:gd name="T54" fmla="*/ 67570627 w 287"/>
              <a:gd name="T55" fmla="*/ 302419152 h 237"/>
              <a:gd name="T56" fmla="*/ 85089347 w 287"/>
              <a:gd name="T57" fmla="*/ 304940105 h 237"/>
              <a:gd name="T58" fmla="*/ 70073301 w 287"/>
              <a:gd name="T59" fmla="*/ 365423936 h 237"/>
              <a:gd name="T60" fmla="*/ 70073301 w 287"/>
              <a:gd name="T61" fmla="*/ 493951281 h 237"/>
              <a:gd name="T62" fmla="*/ 0 w 287"/>
              <a:gd name="T63" fmla="*/ 493951281 h 237"/>
              <a:gd name="T64" fmla="*/ 0 w 287"/>
              <a:gd name="T65" fmla="*/ 370464255 h 237"/>
              <a:gd name="T66" fmla="*/ 67570627 w 287"/>
              <a:gd name="T67" fmla="*/ 302419152 h 237"/>
              <a:gd name="T68" fmla="*/ 360377202 w 287"/>
              <a:gd name="T69" fmla="*/ 0 h 237"/>
              <a:gd name="T70" fmla="*/ 270284088 w 287"/>
              <a:gd name="T71" fmla="*/ 90725746 h 237"/>
              <a:gd name="T72" fmla="*/ 360377202 w 287"/>
              <a:gd name="T73" fmla="*/ 181451491 h 237"/>
              <a:gd name="T74" fmla="*/ 447969224 w 287"/>
              <a:gd name="T75" fmla="*/ 90725746 h 237"/>
              <a:gd name="T76" fmla="*/ 360377202 w 287"/>
              <a:gd name="T77" fmla="*/ 0 h 237"/>
              <a:gd name="T78" fmla="*/ 628158616 w 287"/>
              <a:gd name="T79" fmla="*/ 539314154 h 237"/>
              <a:gd name="T80" fmla="*/ 520545199 w 287"/>
              <a:gd name="T81" fmla="*/ 539314154 h 237"/>
              <a:gd name="T82" fmla="*/ 520545199 w 287"/>
              <a:gd name="T83" fmla="*/ 345262659 h 237"/>
              <a:gd name="T84" fmla="*/ 503028061 w 287"/>
              <a:gd name="T85" fmla="*/ 272177237 h 237"/>
              <a:gd name="T86" fmla="*/ 530555897 w 287"/>
              <a:gd name="T87" fmla="*/ 267136918 h 237"/>
              <a:gd name="T88" fmla="*/ 628158616 w 287"/>
              <a:gd name="T89" fmla="*/ 365423936 h 237"/>
              <a:gd name="T90" fmla="*/ 628158616 w 287"/>
              <a:gd name="T91" fmla="*/ 539314154 h 237"/>
              <a:gd name="T92" fmla="*/ 197708113 w 287"/>
              <a:gd name="T93" fmla="*/ 345262659 h 237"/>
              <a:gd name="T94" fmla="*/ 197708113 w 287"/>
              <a:gd name="T95" fmla="*/ 539314154 h 237"/>
              <a:gd name="T96" fmla="*/ 92597370 w 287"/>
              <a:gd name="T97" fmla="*/ 539314154 h 237"/>
              <a:gd name="T98" fmla="*/ 92597370 w 287"/>
              <a:gd name="T99" fmla="*/ 365423936 h 237"/>
              <a:gd name="T100" fmla="*/ 187697415 w 287"/>
              <a:gd name="T101" fmla="*/ 267136918 h 237"/>
              <a:gd name="T102" fmla="*/ 215225252 w 287"/>
              <a:gd name="T103" fmla="*/ 272177237 h 237"/>
              <a:gd name="T104" fmla="*/ 197708113 w 287"/>
              <a:gd name="T105" fmla="*/ 345262659 h 237"/>
              <a:gd name="T106" fmla="*/ 220230600 w 287"/>
              <a:gd name="T107" fmla="*/ 597278619 h 237"/>
              <a:gd name="T108" fmla="*/ 500525386 w 287"/>
              <a:gd name="T109" fmla="*/ 597278619 h 237"/>
              <a:gd name="T110" fmla="*/ 500525386 w 287"/>
              <a:gd name="T111" fmla="*/ 345262659 h 237"/>
              <a:gd name="T112" fmla="*/ 360377202 w 287"/>
              <a:gd name="T113" fmla="*/ 204133721 h 237"/>
              <a:gd name="T114" fmla="*/ 220230600 w 287"/>
              <a:gd name="T115" fmla="*/ 345262659 h 237"/>
              <a:gd name="T116" fmla="*/ 220230600 w 287"/>
              <a:gd name="T117" fmla="*/ 597278619 h 237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87" h="237">
                <a:moveTo>
                  <a:pt x="260" y="78"/>
                </a:moveTo>
                <a:cubicBezTo>
                  <a:pt x="251" y="78"/>
                  <a:pt x="244" y="85"/>
                  <a:pt x="244" y="94"/>
                </a:cubicBezTo>
                <a:cubicBezTo>
                  <a:pt x="244" y="103"/>
                  <a:pt x="251" y="111"/>
                  <a:pt x="260" y="111"/>
                </a:cubicBezTo>
                <a:cubicBezTo>
                  <a:pt x="269" y="111"/>
                  <a:pt x="277" y="103"/>
                  <a:pt x="277" y="94"/>
                </a:cubicBezTo>
                <a:cubicBezTo>
                  <a:pt x="277" y="85"/>
                  <a:pt x="269" y="78"/>
                  <a:pt x="260" y="78"/>
                </a:cubicBezTo>
                <a:close/>
                <a:moveTo>
                  <a:pt x="27" y="78"/>
                </a:moveTo>
                <a:cubicBezTo>
                  <a:pt x="18" y="78"/>
                  <a:pt x="11" y="85"/>
                  <a:pt x="11" y="94"/>
                </a:cubicBezTo>
                <a:cubicBezTo>
                  <a:pt x="11" y="103"/>
                  <a:pt x="18" y="111"/>
                  <a:pt x="27" y="111"/>
                </a:cubicBezTo>
                <a:cubicBezTo>
                  <a:pt x="36" y="111"/>
                  <a:pt x="43" y="103"/>
                  <a:pt x="43" y="94"/>
                </a:cubicBezTo>
                <a:cubicBezTo>
                  <a:pt x="43" y="85"/>
                  <a:pt x="36" y="78"/>
                  <a:pt x="27" y="78"/>
                </a:cubicBezTo>
                <a:close/>
                <a:moveTo>
                  <a:pt x="212" y="49"/>
                </a:moveTo>
                <a:cubicBezTo>
                  <a:pt x="199" y="49"/>
                  <a:pt x="188" y="59"/>
                  <a:pt x="188" y="73"/>
                </a:cubicBezTo>
                <a:cubicBezTo>
                  <a:pt x="188" y="86"/>
                  <a:pt x="199" y="97"/>
                  <a:pt x="212" y="97"/>
                </a:cubicBezTo>
                <a:cubicBezTo>
                  <a:pt x="225" y="97"/>
                  <a:pt x="236" y="86"/>
                  <a:pt x="236" y="73"/>
                </a:cubicBezTo>
                <a:cubicBezTo>
                  <a:pt x="236" y="59"/>
                  <a:pt x="225" y="49"/>
                  <a:pt x="212" y="49"/>
                </a:cubicBezTo>
                <a:close/>
                <a:moveTo>
                  <a:pt x="287" y="196"/>
                </a:moveTo>
                <a:cubicBezTo>
                  <a:pt x="259" y="196"/>
                  <a:pt x="259" y="196"/>
                  <a:pt x="259" y="196"/>
                </a:cubicBezTo>
                <a:cubicBezTo>
                  <a:pt x="259" y="145"/>
                  <a:pt x="259" y="145"/>
                  <a:pt x="259" y="145"/>
                </a:cubicBezTo>
                <a:cubicBezTo>
                  <a:pt x="259" y="136"/>
                  <a:pt x="257" y="128"/>
                  <a:pt x="253" y="121"/>
                </a:cubicBezTo>
                <a:cubicBezTo>
                  <a:pt x="255" y="120"/>
                  <a:pt x="258" y="120"/>
                  <a:pt x="260" y="120"/>
                </a:cubicBezTo>
                <a:cubicBezTo>
                  <a:pt x="275" y="120"/>
                  <a:pt x="287" y="132"/>
                  <a:pt x="287" y="147"/>
                </a:cubicBezTo>
                <a:lnTo>
                  <a:pt x="287" y="196"/>
                </a:lnTo>
                <a:close/>
                <a:moveTo>
                  <a:pt x="75" y="49"/>
                </a:moveTo>
                <a:cubicBezTo>
                  <a:pt x="62" y="49"/>
                  <a:pt x="51" y="59"/>
                  <a:pt x="51" y="73"/>
                </a:cubicBezTo>
                <a:cubicBezTo>
                  <a:pt x="51" y="86"/>
                  <a:pt x="62" y="97"/>
                  <a:pt x="75" y="97"/>
                </a:cubicBezTo>
                <a:cubicBezTo>
                  <a:pt x="88" y="97"/>
                  <a:pt x="99" y="86"/>
                  <a:pt x="99" y="73"/>
                </a:cubicBezTo>
                <a:cubicBezTo>
                  <a:pt x="99" y="59"/>
                  <a:pt x="88" y="49"/>
                  <a:pt x="75" y="49"/>
                </a:cubicBezTo>
                <a:close/>
                <a:moveTo>
                  <a:pt x="27" y="120"/>
                </a:moveTo>
                <a:cubicBezTo>
                  <a:pt x="29" y="120"/>
                  <a:pt x="32" y="120"/>
                  <a:pt x="34" y="121"/>
                </a:cubicBezTo>
                <a:cubicBezTo>
                  <a:pt x="30" y="128"/>
                  <a:pt x="28" y="136"/>
                  <a:pt x="28" y="145"/>
                </a:cubicBezTo>
                <a:cubicBezTo>
                  <a:pt x="28" y="196"/>
                  <a:pt x="28" y="196"/>
                  <a:pt x="28" y="196"/>
                </a:cubicBezTo>
                <a:cubicBezTo>
                  <a:pt x="0" y="196"/>
                  <a:pt x="0" y="196"/>
                  <a:pt x="0" y="196"/>
                </a:cubicBezTo>
                <a:cubicBezTo>
                  <a:pt x="0" y="147"/>
                  <a:pt x="0" y="147"/>
                  <a:pt x="0" y="147"/>
                </a:cubicBezTo>
                <a:cubicBezTo>
                  <a:pt x="0" y="132"/>
                  <a:pt x="12" y="120"/>
                  <a:pt x="27" y="120"/>
                </a:cubicBezTo>
                <a:close/>
                <a:moveTo>
                  <a:pt x="144" y="0"/>
                </a:moveTo>
                <a:cubicBezTo>
                  <a:pt x="124" y="0"/>
                  <a:pt x="108" y="16"/>
                  <a:pt x="108" y="36"/>
                </a:cubicBezTo>
                <a:cubicBezTo>
                  <a:pt x="108" y="56"/>
                  <a:pt x="124" y="72"/>
                  <a:pt x="144" y="72"/>
                </a:cubicBezTo>
                <a:cubicBezTo>
                  <a:pt x="163" y="72"/>
                  <a:pt x="179" y="56"/>
                  <a:pt x="179" y="36"/>
                </a:cubicBezTo>
                <a:cubicBezTo>
                  <a:pt x="179" y="16"/>
                  <a:pt x="163" y="0"/>
                  <a:pt x="144" y="0"/>
                </a:cubicBezTo>
                <a:close/>
                <a:moveTo>
                  <a:pt x="251" y="214"/>
                </a:moveTo>
                <a:cubicBezTo>
                  <a:pt x="208" y="214"/>
                  <a:pt x="208" y="214"/>
                  <a:pt x="208" y="214"/>
                </a:cubicBezTo>
                <a:cubicBezTo>
                  <a:pt x="208" y="137"/>
                  <a:pt x="208" y="137"/>
                  <a:pt x="208" y="137"/>
                </a:cubicBezTo>
                <a:cubicBezTo>
                  <a:pt x="208" y="127"/>
                  <a:pt x="206" y="117"/>
                  <a:pt x="201" y="108"/>
                </a:cubicBezTo>
                <a:cubicBezTo>
                  <a:pt x="205" y="107"/>
                  <a:pt x="208" y="106"/>
                  <a:pt x="212" y="106"/>
                </a:cubicBezTo>
                <a:cubicBezTo>
                  <a:pt x="233" y="106"/>
                  <a:pt x="251" y="124"/>
                  <a:pt x="251" y="145"/>
                </a:cubicBezTo>
                <a:lnTo>
                  <a:pt x="251" y="214"/>
                </a:lnTo>
                <a:close/>
                <a:moveTo>
                  <a:pt x="79" y="137"/>
                </a:moveTo>
                <a:cubicBezTo>
                  <a:pt x="79" y="214"/>
                  <a:pt x="79" y="214"/>
                  <a:pt x="79" y="214"/>
                </a:cubicBezTo>
                <a:cubicBezTo>
                  <a:pt x="37" y="214"/>
                  <a:pt x="37" y="214"/>
                  <a:pt x="37" y="214"/>
                </a:cubicBezTo>
                <a:cubicBezTo>
                  <a:pt x="37" y="145"/>
                  <a:pt x="37" y="145"/>
                  <a:pt x="37" y="145"/>
                </a:cubicBezTo>
                <a:cubicBezTo>
                  <a:pt x="37" y="124"/>
                  <a:pt x="54" y="106"/>
                  <a:pt x="75" y="106"/>
                </a:cubicBezTo>
                <a:cubicBezTo>
                  <a:pt x="79" y="106"/>
                  <a:pt x="83" y="107"/>
                  <a:pt x="86" y="108"/>
                </a:cubicBezTo>
                <a:cubicBezTo>
                  <a:pt x="81" y="117"/>
                  <a:pt x="79" y="127"/>
                  <a:pt x="79" y="137"/>
                </a:cubicBezTo>
                <a:close/>
                <a:moveTo>
                  <a:pt x="88" y="237"/>
                </a:moveTo>
                <a:cubicBezTo>
                  <a:pt x="200" y="237"/>
                  <a:pt x="200" y="237"/>
                  <a:pt x="200" y="237"/>
                </a:cubicBezTo>
                <a:cubicBezTo>
                  <a:pt x="200" y="137"/>
                  <a:pt x="200" y="137"/>
                  <a:pt x="200" y="137"/>
                </a:cubicBezTo>
                <a:cubicBezTo>
                  <a:pt x="200" y="106"/>
                  <a:pt x="174" y="81"/>
                  <a:pt x="144" y="81"/>
                </a:cubicBezTo>
                <a:cubicBezTo>
                  <a:pt x="113" y="81"/>
                  <a:pt x="88" y="106"/>
                  <a:pt x="88" y="137"/>
                </a:cubicBezTo>
                <a:lnTo>
                  <a:pt x="88" y="23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07" name="稻壳儿小白白(http://dwz.cn/Wu2UP)"/>
          <p:cNvSpPr>
            <a:spLocks noChangeArrowheads="1"/>
          </p:cNvSpPr>
          <p:nvPr/>
        </p:nvSpPr>
        <p:spPr bwMode="auto">
          <a:xfrm>
            <a:off x="3990528" y="4840013"/>
            <a:ext cx="638175" cy="638175"/>
          </a:xfrm>
          <a:prstGeom prst="ellipse">
            <a:avLst/>
          </a:prstGeom>
          <a:solidFill>
            <a:srgbClr val="117A6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/>
            <a:endParaRPr lang="en-US" altLang="zh-CN" sz="240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42008" name="稻壳儿小白白(http://dwz.cn/Wu2UP)"/>
          <p:cNvSpPr>
            <a:spLocks noEditPoints="1"/>
          </p:cNvSpPr>
          <p:nvPr/>
        </p:nvSpPr>
        <p:spPr bwMode="auto">
          <a:xfrm>
            <a:off x="4131816" y="5019401"/>
            <a:ext cx="347662" cy="274637"/>
          </a:xfrm>
          <a:custGeom>
            <a:avLst/>
            <a:gdLst>
              <a:gd name="T0" fmla="*/ 293369207 w 411"/>
              <a:gd name="T1" fmla="*/ 222016890 h 324"/>
              <a:gd name="T2" fmla="*/ 293369207 w 411"/>
              <a:gd name="T3" fmla="*/ 33051376 h 324"/>
              <a:gd name="T4" fmla="*/ 282636518 w 411"/>
              <a:gd name="T5" fmla="*/ 22992372 h 324"/>
              <a:gd name="T6" fmla="*/ 150262731 w 411"/>
              <a:gd name="T7" fmla="*/ 22992372 h 324"/>
              <a:gd name="T8" fmla="*/ 143107322 w 411"/>
              <a:gd name="T9" fmla="*/ 12214565 h 324"/>
              <a:gd name="T10" fmla="*/ 143107322 w 411"/>
              <a:gd name="T11" fmla="*/ 10777807 h 324"/>
              <a:gd name="T12" fmla="*/ 131658161 w 411"/>
              <a:gd name="T13" fmla="*/ 0 h 324"/>
              <a:gd name="T14" fmla="*/ 61536174 w 411"/>
              <a:gd name="T15" fmla="*/ 0 h 324"/>
              <a:gd name="T16" fmla="*/ 50087859 w 411"/>
              <a:gd name="T17" fmla="*/ 10777807 h 324"/>
              <a:gd name="T18" fmla="*/ 50087859 w 411"/>
              <a:gd name="T19" fmla="*/ 12214565 h 324"/>
              <a:gd name="T20" fmla="*/ 42932450 w 411"/>
              <a:gd name="T21" fmla="*/ 22992372 h 324"/>
              <a:gd name="T22" fmla="*/ 42932450 w 411"/>
              <a:gd name="T23" fmla="*/ 22992372 h 324"/>
              <a:gd name="T24" fmla="*/ 32914540 w 411"/>
              <a:gd name="T25" fmla="*/ 33051376 h 324"/>
              <a:gd name="T26" fmla="*/ 32914540 w 411"/>
              <a:gd name="T27" fmla="*/ 87657519 h 324"/>
              <a:gd name="T28" fmla="*/ 10017910 w 411"/>
              <a:gd name="T29" fmla="*/ 87657519 h 324"/>
              <a:gd name="T30" fmla="*/ 3577281 w 411"/>
              <a:gd name="T31" fmla="*/ 99153281 h 324"/>
              <a:gd name="T32" fmla="*/ 27190383 w 411"/>
              <a:gd name="T33" fmla="*/ 222016890 h 324"/>
              <a:gd name="T34" fmla="*/ 37923072 w 411"/>
              <a:gd name="T35" fmla="*/ 232794697 h 324"/>
              <a:gd name="T36" fmla="*/ 288360675 w 411"/>
              <a:gd name="T37" fmla="*/ 232794697 h 324"/>
              <a:gd name="T38" fmla="*/ 293369207 w 411"/>
              <a:gd name="T39" fmla="*/ 222016890 h 324"/>
              <a:gd name="T40" fmla="*/ 280489641 w 411"/>
              <a:gd name="T41" fmla="*/ 103464404 h 324"/>
              <a:gd name="T42" fmla="*/ 280489641 w 411"/>
              <a:gd name="T43" fmla="*/ 227046816 h 324"/>
              <a:gd name="T44" fmla="*/ 256877386 w 411"/>
              <a:gd name="T45" fmla="*/ 94842158 h 324"/>
              <a:gd name="T46" fmla="*/ 246859476 w 411"/>
              <a:gd name="T47" fmla="*/ 88375474 h 324"/>
              <a:gd name="T48" fmla="*/ 45794106 w 411"/>
              <a:gd name="T49" fmla="*/ 88375474 h 324"/>
              <a:gd name="T50" fmla="*/ 45794106 w 411"/>
              <a:gd name="T51" fmla="*/ 45983897 h 324"/>
              <a:gd name="T52" fmla="*/ 280489641 w 411"/>
              <a:gd name="T53" fmla="*/ 45983897 h 324"/>
              <a:gd name="T54" fmla="*/ 280489641 w 411"/>
              <a:gd name="T55" fmla="*/ 103464404 h 324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0" t="0" r="r" b="b"/>
            <a:pathLst>
              <a:path w="411" h="324">
                <a:moveTo>
                  <a:pt x="410" y="309"/>
                </a:moveTo>
                <a:cubicBezTo>
                  <a:pt x="410" y="46"/>
                  <a:pt x="410" y="46"/>
                  <a:pt x="410" y="46"/>
                </a:cubicBezTo>
                <a:cubicBezTo>
                  <a:pt x="410" y="38"/>
                  <a:pt x="403" y="32"/>
                  <a:pt x="395" y="32"/>
                </a:cubicBezTo>
                <a:cubicBezTo>
                  <a:pt x="210" y="32"/>
                  <a:pt x="210" y="32"/>
                  <a:pt x="210" y="32"/>
                </a:cubicBezTo>
                <a:cubicBezTo>
                  <a:pt x="204" y="32"/>
                  <a:pt x="200" y="21"/>
                  <a:pt x="200" y="17"/>
                </a:cubicBezTo>
                <a:cubicBezTo>
                  <a:pt x="200" y="15"/>
                  <a:pt x="200" y="15"/>
                  <a:pt x="200" y="15"/>
                </a:cubicBezTo>
                <a:cubicBezTo>
                  <a:pt x="200" y="7"/>
                  <a:pt x="193" y="0"/>
                  <a:pt x="184" y="0"/>
                </a:cubicBezTo>
                <a:cubicBezTo>
                  <a:pt x="86" y="0"/>
                  <a:pt x="86" y="0"/>
                  <a:pt x="86" y="0"/>
                </a:cubicBezTo>
                <a:cubicBezTo>
                  <a:pt x="77" y="0"/>
                  <a:pt x="70" y="7"/>
                  <a:pt x="70" y="15"/>
                </a:cubicBezTo>
                <a:cubicBezTo>
                  <a:pt x="70" y="17"/>
                  <a:pt x="70" y="17"/>
                  <a:pt x="70" y="17"/>
                </a:cubicBezTo>
                <a:cubicBezTo>
                  <a:pt x="70" y="21"/>
                  <a:pt x="66" y="32"/>
                  <a:pt x="60" y="32"/>
                </a:cubicBezTo>
                <a:cubicBezTo>
                  <a:pt x="60" y="32"/>
                  <a:pt x="60" y="32"/>
                  <a:pt x="60" y="32"/>
                </a:cubicBezTo>
                <a:cubicBezTo>
                  <a:pt x="52" y="32"/>
                  <a:pt x="46" y="38"/>
                  <a:pt x="46" y="46"/>
                </a:cubicBezTo>
                <a:cubicBezTo>
                  <a:pt x="46" y="122"/>
                  <a:pt x="46" y="122"/>
                  <a:pt x="46" y="122"/>
                </a:cubicBezTo>
                <a:cubicBezTo>
                  <a:pt x="14" y="122"/>
                  <a:pt x="14" y="122"/>
                  <a:pt x="14" y="122"/>
                </a:cubicBezTo>
                <a:cubicBezTo>
                  <a:pt x="14" y="122"/>
                  <a:pt x="0" y="122"/>
                  <a:pt x="5" y="138"/>
                </a:cubicBezTo>
                <a:cubicBezTo>
                  <a:pt x="38" y="309"/>
                  <a:pt x="38" y="309"/>
                  <a:pt x="38" y="309"/>
                </a:cubicBezTo>
                <a:cubicBezTo>
                  <a:pt x="38" y="317"/>
                  <a:pt x="44" y="324"/>
                  <a:pt x="53" y="324"/>
                </a:cubicBezTo>
                <a:cubicBezTo>
                  <a:pt x="403" y="324"/>
                  <a:pt x="403" y="324"/>
                  <a:pt x="403" y="324"/>
                </a:cubicBezTo>
                <a:cubicBezTo>
                  <a:pt x="411" y="324"/>
                  <a:pt x="410" y="309"/>
                  <a:pt x="410" y="309"/>
                </a:cubicBezTo>
                <a:close/>
                <a:moveTo>
                  <a:pt x="392" y="144"/>
                </a:moveTo>
                <a:cubicBezTo>
                  <a:pt x="392" y="316"/>
                  <a:pt x="392" y="316"/>
                  <a:pt x="392" y="316"/>
                </a:cubicBezTo>
                <a:cubicBezTo>
                  <a:pt x="359" y="132"/>
                  <a:pt x="359" y="132"/>
                  <a:pt x="359" y="132"/>
                </a:cubicBezTo>
                <a:cubicBezTo>
                  <a:pt x="356" y="122"/>
                  <a:pt x="345" y="123"/>
                  <a:pt x="345" y="123"/>
                </a:cubicBezTo>
                <a:cubicBezTo>
                  <a:pt x="64" y="123"/>
                  <a:pt x="64" y="123"/>
                  <a:pt x="64" y="123"/>
                </a:cubicBezTo>
                <a:cubicBezTo>
                  <a:pt x="64" y="64"/>
                  <a:pt x="64" y="64"/>
                  <a:pt x="64" y="64"/>
                </a:cubicBezTo>
                <a:cubicBezTo>
                  <a:pt x="392" y="64"/>
                  <a:pt x="392" y="64"/>
                  <a:pt x="392" y="64"/>
                </a:cubicBezTo>
                <a:lnTo>
                  <a:pt x="392" y="14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121920" tIns="60960" rIns="121920" bIns="60960"/>
          <a:lstStyle/>
          <a:p>
            <a:endParaRPr lang="zh-CN" altLang="en-US"/>
          </a:p>
        </p:txBody>
      </p:sp>
      <p:sp>
        <p:nvSpPr>
          <p:cNvPr id="42017" name="稻壳儿小白白(http://dwz.cn/Wu2UP)"/>
          <p:cNvSpPr txBox="1">
            <a:spLocks noChangeArrowheads="1"/>
          </p:cNvSpPr>
          <p:nvPr/>
        </p:nvSpPr>
        <p:spPr bwMode="auto">
          <a:xfrm>
            <a:off x="4817616" y="1535387"/>
            <a:ext cx="125888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1600" b="1" dirty="0">
                <a:solidFill>
                  <a:srgbClr val="445469"/>
                </a:solidFill>
                <a:sym typeface="Arial" panose="020B0604020202020204" pitchFamily="34" charset="0"/>
              </a:rPr>
              <a:t>人机对战功能</a:t>
            </a:r>
            <a:endParaRPr lang="en-US" altLang="zh-CN" sz="1600" b="1" dirty="0">
              <a:solidFill>
                <a:srgbClr val="445469"/>
              </a:solidFill>
              <a:sym typeface="Arial" panose="020B0604020202020204" pitchFamily="34" charset="0"/>
            </a:endParaRPr>
          </a:p>
        </p:txBody>
      </p:sp>
      <p:sp>
        <p:nvSpPr>
          <p:cNvPr id="42018" name="稻壳儿小白白(http://dwz.cn/Wu2UP)"/>
          <p:cNvSpPr txBox="1">
            <a:spLocks noChangeArrowheads="1"/>
          </p:cNvSpPr>
          <p:nvPr/>
        </p:nvSpPr>
        <p:spPr bwMode="auto">
          <a:xfrm>
            <a:off x="4817616" y="1819550"/>
            <a:ext cx="23860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zh-CN" sz="1200" dirty="0"/>
              <a:t>增加人机对战 AI 算法，实现单人模式；增加对局计时、比分统计功能</a:t>
            </a:r>
            <a:endParaRPr lang="en-US" altLang="zh-CN" sz="1200" dirty="0">
              <a:solidFill>
                <a:srgbClr val="445469"/>
              </a:solidFill>
              <a:sym typeface="Arial" panose="020B0604020202020204" pitchFamily="34" charset="0"/>
            </a:endParaRPr>
          </a:p>
        </p:txBody>
      </p:sp>
      <p:sp>
        <p:nvSpPr>
          <p:cNvPr id="42019" name="稻壳儿小白白(http://dwz.cn/Wu2UP)"/>
          <p:cNvSpPr txBox="1">
            <a:spLocks noChangeArrowheads="1"/>
          </p:cNvSpPr>
          <p:nvPr/>
        </p:nvSpPr>
        <p:spPr bwMode="auto">
          <a:xfrm>
            <a:off x="4819204" y="3175794"/>
            <a:ext cx="125888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1600" b="1" dirty="0">
                <a:solidFill>
                  <a:srgbClr val="445469"/>
                </a:solidFill>
                <a:sym typeface="Arial" panose="020B0604020202020204" pitchFamily="34" charset="0"/>
              </a:rPr>
              <a:t>时间限制功能</a:t>
            </a:r>
            <a:endParaRPr lang="en-US" altLang="zh-CN" sz="1600" b="1" dirty="0">
              <a:solidFill>
                <a:srgbClr val="445469"/>
              </a:solidFill>
              <a:sym typeface="Arial" panose="020B0604020202020204" pitchFamily="34" charset="0"/>
            </a:endParaRPr>
          </a:p>
        </p:txBody>
      </p:sp>
      <p:sp>
        <p:nvSpPr>
          <p:cNvPr id="42020" name="稻壳儿小白白(http://dwz.cn/Wu2UP)"/>
          <p:cNvSpPr txBox="1">
            <a:spLocks noChangeArrowheads="1"/>
          </p:cNvSpPr>
          <p:nvPr/>
        </p:nvSpPr>
        <p:spPr bwMode="auto">
          <a:xfrm>
            <a:off x="4819204" y="3458369"/>
            <a:ext cx="23860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1200" dirty="0">
                <a:solidFill>
                  <a:srgbClr val="445469"/>
                </a:solidFill>
                <a:sym typeface="Arial" panose="020B0604020202020204" pitchFamily="34" charset="0"/>
              </a:rPr>
              <a:t>在上次落子后就开始计时，限定落子时间，提高游戏体验。</a:t>
            </a:r>
            <a:endParaRPr lang="en-US" altLang="zh-CN" sz="1200" dirty="0">
              <a:solidFill>
                <a:srgbClr val="445469"/>
              </a:solidFill>
              <a:sym typeface="Arial" panose="020B0604020202020204" pitchFamily="34" charset="0"/>
            </a:endParaRPr>
          </a:p>
        </p:txBody>
      </p:sp>
      <p:sp>
        <p:nvSpPr>
          <p:cNvPr id="42021" name="稻壳儿小白白(http://dwz.cn/Wu2UP)"/>
          <p:cNvSpPr txBox="1">
            <a:spLocks noChangeArrowheads="1"/>
          </p:cNvSpPr>
          <p:nvPr/>
        </p:nvSpPr>
        <p:spPr bwMode="auto">
          <a:xfrm>
            <a:off x="4817616" y="4874938"/>
            <a:ext cx="125888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1600" b="1" dirty="0">
                <a:solidFill>
                  <a:srgbClr val="445469"/>
                </a:solidFill>
                <a:sym typeface="Arial" panose="020B0604020202020204" pitchFamily="34" charset="0"/>
              </a:rPr>
              <a:t>悔棋功能完善</a:t>
            </a:r>
            <a:endParaRPr lang="en-US" altLang="zh-CN" sz="1600" b="1" dirty="0">
              <a:solidFill>
                <a:srgbClr val="445469"/>
              </a:solidFill>
              <a:sym typeface="Arial" panose="020B0604020202020204" pitchFamily="34" charset="0"/>
            </a:endParaRPr>
          </a:p>
        </p:txBody>
      </p:sp>
      <p:sp>
        <p:nvSpPr>
          <p:cNvPr id="42022" name="稻壳儿小白白(http://dwz.cn/Wu2UP)"/>
          <p:cNvSpPr txBox="1">
            <a:spLocks noChangeArrowheads="1"/>
          </p:cNvSpPr>
          <p:nvPr/>
        </p:nvSpPr>
        <p:spPr bwMode="auto">
          <a:xfrm>
            <a:off x="4817616" y="5159101"/>
            <a:ext cx="23860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1200" dirty="0">
                <a:solidFill>
                  <a:srgbClr val="445469"/>
                </a:solidFill>
                <a:sym typeface="Arial" panose="020B0604020202020204" pitchFamily="34" charset="0"/>
              </a:rPr>
              <a:t>当前悔棋仅支持返回上一步，增加悔棋算法，使其没有次数限制。</a:t>
            </a:r>
            <a:endParaRPr lang="en-US" altLang="zh-CN" sz="1200" dirty="0">
              <a:solidFill>
                <a:srgbClr val="445469"/>
              </a:solidFill>
              <a:sym typeface="Arial" panose="020B0604020202020204" pitchFamily="34" charset="0"/>
            </a:endParaRPr>
          </a:p>
        </p:txBody>
      </p:sp>
      <p:pic>
        <p:nvPicPr>
          <p:cNvPr id="42025" name="图片 5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32" t="9293" r="6709" b="5219"/>
          <a:stretch>
            <a:fillRect/>
          </a:stretch>
        </p:blipFill>
        <p:spPr bwMode="auto">
          <a:xfrm>
            <a:off x="261938" y="160338"/>
            <a:ext cx="725487" cy="665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026" name="文本框 59"/>
          <p:cNvSpPr txBox="1">
            <a:spLocks noChangeArrowheads="1"/>
          </p:cNvSpPr>
          <p:nvPr/>
        </p:nvSpPr>
        <p:spPr bwMode="auto">
          <a:xfrm>
            <a:off x="987425" y="266700"/>
            <a:ext cx="22574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117A68"/>
                </a:solidFill>
                <a:latin typeface="微软雅黑" panose="020B0503020204020204" pitchFamily="34" charset="-122"/>
              </a:rPr>
              <a:t>项目总结</a:t>
            </a:r>
          </a:p>
        </p:txBody>
      </p:sp>
      <p:sp>
        <p:nvSpPr>
          <p:cNvPr id="42027" name="文本框 61"/>
          <p:cNvSpPr txBox="1">
            <a:spLocks noChangeArrowheads="1"/>
          </p:cNvSpPr>
          <p:nvPr/>
        </p:nvSpPr>
        <p:spPr bwMode="auto">
          <a:xfrm>
            <a:off x="261938" y="177800"/>
            <a:ext cx="627062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lang="en-US" altLang="zh-CN" sz="3600">
                <a:solidFill>
                  <a:schemeClr val="bg1"/>
                </a:solidFill>
                <a:latin typeface="Impact" panose="020B0806030902050204" pitchFamily="34" charset="0"/>
              </a:rPr>
              <a:t>4</a:t>
            </a:r>
            <a:endParaRPr lang="zh-CN" altLang="en-US" sz="36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grpSp>
        <p:nvGrpSpPr>
          <p:cNvPr id="2" name="组合 4"/>
          <p:cNvGrpSpPr>
            <a:grpSpLocks noChangeAspect="1"/>
          </p:cNvGrpSpPr>
          <p:nvPr/>
        </p:nvGrpSpPr>
        <p:grpSpPr bwMode="auto">
          <a:xfrm>
            <a:off x="88900" y="1854423"/>
            <a:ext cx="3155950" cy="2946400"/>
            <a:chOff x="0" y="0"/>
            <a:chExt cx="6822015" cy="6383223"/>
          </a:xfrm>
        </p:grpSpPr>
        <p:pic>
          <p:nvPicPr>
            <p:cNvPr id="3" name="图片 1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73" y="0"/>
              <a:ext cx="6818442" cy="6383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" name="图片 3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6822015" cy="63830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" name="文本框 59"/>
          <p:cNvSpPr txBox="1">
            <a:spLocks noChangeArrowheads="1"/>
          </p:cNvSpPr>
          <p:nvPr/>
        </p:nvSpPr>
        <p:spPr bwMode="auto">
          <a:xfrm>
            <a:off x="538162" y="3096753"/>
            <a:ext cx="22574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项目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可优化点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624423">
            <a:off x="1494925" y="688973"/>
            <a:ext cx="8763000" cy="520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299" name="文本框 6"/>
          <p:cNvSpPr txBox="1">
            <a:spLocks noChangeArrowheads="1"/>
          </p:cNvSpPr>
          <p:nvPr/>
        </p:nvSpPr>
        <p:spPr bwMode="auto">
          <a:xfrm>
            <a:off x="2814307" y="2406823"/>
            <a:ext cx="6748463" cy="1769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lang="en-US" altLang="zh-CN" sz="11500" dirty="0">
                <a:solidFill>
                  <a:schemeClr val="bg1"/>
                </a:solidFill>
                <a:latin typeface="Impact" panose="020B0806030902050204" pitchFamily="34" charset="0"/>
              </a:rPr>
              <a:t>THANKS</a:t>
            </a:r>
            <a:endParaRPr lang="zh-CN" altLang="en-US" sz="115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1_Office 主题">
  <a:themeElements>
    <a:clrScheme name="1_Office 主题 1">
      <a:dk1>
        <a:srgbClr val="445469"/>
      </a:dk1>
      <a:lt1>
        <a:srgbClr val="FFFFFF"/>
      </a:lt1>
      <a:dk2>
        <a:srgbClr val="445469"/>
      </a:dk2>
      <a:lt2>
        <a:srgbClr val="FFFFFF"/>
      </a:lt2>
      <a:accent1>
        <a:srgbClr val="E71F3C"/>
      </a:accent1>
      <a:accent2>
        <a:srgbClr val="FCC725"/>
      </a:accent2>
      <a:accent3>
        <a:srgbClr val="FFFFFF"/>
      </a:accent3>
      <a:accent4>
        <a:srgbClr val="394659"/>
      </a:accent4>
      <a:accent5>
        <a:srgbClr val="F1ABAF"/>
      </a:accent5>
      <a:accent6>
        <a:srgbClr val="E4B420"/>
      </a:accent6>
      <a:hlink>
        <a:srgbClr val="F33B48"/>
      </a:hlink>
      <a:folHlink>
        <a:srgbClr val="FFC000"/>
      </a:folHlink>
    </a:clrScheme>
    <a:fontScheme name="1_Office 主题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微软雅黑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微软雅黑" panose="020B0503020204020204" pitchFamily="34" charset="-122"/>
          </a:defRPr>
        </a:defPPr>
      </a:lstStyle>
    </a:lnDef>
  </a:objectDefaults>
  <a:extraClrSchemeLst>
    <a:extraClrScheme>
      <a:clrScheme name="1_Office 主题 1">
        <a:dk1>
          <a:srgbClr val="445469"/>
        </a:dk1>
        <a:lt1>
          <a:srgbClr val="FFFFFF"/>
        </a:lt1>
        <a:dk2>
          <a:srgbClr val="445469"/>
        </a:dk2>
        <a:lt2>
          <a:srgbClr val="FFFFFF"/>
        </a:lt2>
        <a:accent1>
          <a:srgbClr val="E71F3C"/>
        </a:accent1>
        <a:accent2>
          <a:srgbClr val="FCC725"/>
        </a:accent2>
        <a:accent3>
          <a:srgbClr val="FFFFFF"/>
        </a:accent3>
        <a:accent4>
          <a:srgbClr val="394659"/>
        </a:accent4>
        <a:accent5>
          <a:srgbClr val="F1ABAF"/>
        </a:accent5>
        <a:accent6>
          <a:srgbClr val="E4B420"/>
        </a:accent6>
        <a:hlink>
          <a:srgbClr val="F33B48"/>
        </a:hlink>
        <a:folHlink>
          <a:srgbClr val="FFC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2_Office 主题 1">
      <a:dk1>
        <a:srgbClr val="445469"/>
      </a:dk1>
      <a:lt1>
        <a:srgbClr val="FFFFFF"/>
      </a:lt1>
      <a:dk2>
        <a:srgbClr val="445469"/>
      </a:dk2>
      <a:lt2>
        <a:srgbClr val="FFFFFF"/>
      </a:lt2>
      <a:accent1>
        <a:srgbClr val="E71F3C"/>
      </a:accent1>
      <a:accent2>
        <a:srgbClr val="FCC725"/>
      </a:accent2>
      <a:accent3>
        <a:srgbClr val="FFFFFF"/>
      </a:accent3>
      <a:accent4>
        <a:srgbClr val="394659"/>
      </a:accent4>
      <a:accent5>
        <a:srgbClr val="F1ABAF"/>
      </a:accent5>
      <a:accent6>
        <a:srgbClr val="E4B420"/>
      </a:accent6>
      <a:hlink>
        <a:srgbClr val="F33B48"/>
      </a:hlink>
      <a:folHlink>
        <a:srgbClr val="FFC000"/>
      </a:folHlink>
    </a:clrScheme>
    <a:fontScheme name="2_Office 主题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微软雅黑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微软雅黑" panose="020B0503020204020204" pitchFamily="34" charset="-122"/>
          </a:defRPr>
        </a:defPPr>
      </a:lstStyle>
    </a:lnDef>
  </a:objectDefaults>
  <a:extraClrSchemeLst>
    <a:extraClrScheme>
      <a:clrScheme name="2_Office 主题 1">
        <a:dk1>
          <a:srgbClr val="445469"/>
        </a:dk1>
        <a:lt1>
          <a:srgbClr val="FFFFFF"/>
        </a:lt1>
        <a:dk2>
          <a:srgbClr val="445469"/>
        </a:dk2>
        <a:lt2>
          <a:srgbClr val="FFFFFF"/>
        </a:lt2>
        <a:accent1>
          <a:srgbClr val="E71F3C"/>
        </a:accent1>
        <a:accent2>
          <a:srgbClr val="FCC725"/>
        </a:accent2>
        <a:accent3>
          <a:srgbClr val="FFFFFF"/>
        </a:accent3>
        <a:accent4>
          <a:srgbClr val="394659"/>
        </a:accent4>
        <a:accent5>
          <a:srgbClr val="F1ABAF"/>
        </a:accent5>
        <a:accent6>
          <a:srgbClr val="E4B420"/>
        </a:accent6>
        <a:hlink>
          <a:srgbClr val="F33B48"/>
        </a:hlink>
        <a:folHlink>
          <a:srgbClr val="FFC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1354</Words>
  <Application>Microsoft Office PowerPoint</Application>
  <PresentationFormat>宽屏</PresentationFormat>
  <Paragraphs>127</Paragraphs>
  <Slides>17</Slides>
  <Notes>7</Notes>
  <HiddenSlides>0</HiddenSlides>
  <MMClips>1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3" baseType="lpstr">
      <vt:lpstr>等线</vt:lpstr>
      <vt:lpstr>微软雅黑</vt:lpstr>
      <vt:lpstr>Arial</vt:lpstr>
      <vt:lpstr>Impact</vt:lpstr>
      <vt:lpstr>1_Office 主题</vt:lpstr>
      <vt:lpstr>2_Office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lmbl z</cp:lastModifiedBy>
  <cp:revision>523</cp:revision>
  <dcterms:created xsi:type="dcterms:W3CDTF">2015-07-10T05:07:00Z</dcterms:created>
  <dcterms:modified xsi:type="dcterms:W3CDTF">2026-10-30T08:49:25Z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B533269E28954C8C9276F04DF6BDFB85_12</vt:lpwstr>
  </property>
</Properties>
</file>